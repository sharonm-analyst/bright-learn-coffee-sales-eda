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6" r:id="rId19"/>
    <p:sldId id="272" r:id="rId20"/>
    <p:sldId id="271" r:id="rId21"/>
    <p:sldId id="275" r:id="rId22"/>
  </p:sldIdLst>
  <p:sldSz cx="18288000" cy="10287000"/>
  <p:notesSz cx="6858000" cy="9144000"/>
  <p:embeddedFontLst>
    <p:embeddedFont>
      <p:font typeface="Brittany" panose="020B0604020202020204" charset="0"/>
      <p:regular r:id="rId23"/>
    </p:embeddedFont>
    <p:embeddedFont>
      <p:font typeface="Canva Sans" panose="020B0604020202020204" charset="0"/>
      <p:regular r:id="rId24"/>
    </p:embeddedFont>
    <p:embeddedFont>
      <p:font typeface="Magnolia Script" panose="020B0604020202020204" charset="0"/>
      <p:regular r:id="rId25"/>
    </p:embeddedFont>
    <p:embeddedFont>
      <p:font typeface="Open Sans" panose="020B0606030504020204" pitchFamily="34" charset="0"/>
      <p:regular r:id="rId26"/>
      <p:bold r:id="rId27"/>
      <p:italic r:id="rId28"/>
      <p:boldItalic r:id="rId29"/>
    </p:embeddedFont>
    <p:embeddedFont>
      <p:font typeface="Times New Roman MT" panose="020B0604020202020204" charset="0"/>
      <p:regular r:id="rId30"/>
    </p:embeddedFont>
    <p:embeddedFont>
      <p:font typeface="Times New Roman MT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A7BD86-FE4D-4C83-87A4-746A41440648}" v="34" dt="2026-03-31T16:56:10.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9.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svg"/><Relationship Id="rId7" Type="http://schemas.openxmlformats.org/officeDocument/2006/relationships/image" Target="../media/image26.pn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0888" b="-20888"/>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TextBox 4"/>
          <p:cNvSpPr txBox="1"/>
          <p:nvPr/>
        </p:nvSpPr>
        <p:spPr>
          <a:xfrm>
            <a:off x="436226" y="447422"/>
            <a:ext cx="17415548" cy="6223660"/>
          </a:xfrm>
          <a:prstGeom prst="rect">
            <a:avLst/>
          </a:prstGeom>
        </p:spPr>
        <p:txBody>
          <a:bodyPr lIns="0" tIns="0" rIns="0" bIns="0" rtlCol="0" anchor="t">
            <a:spAutoFit/>
          </a:bodyPr>
          <a:lstStyle/>
          <a:p>
            <a:pPr algn="ctr">
              <a:lnSpc>
                <a:spcPts val="24988"/>
              </a:lnSpc>
              <a:spcBef>
                <a:spcPct val="0"/>
              </a:spcBef>
            </a:pPr>
            <a:r>
              <a:rPr lang="en-US" sz="17849">
                <a:solidFill>
                  <a:srgbClr val="FFFFFF"/>
                </a:solidFill>
                <a:latin typeface="Magnolia Script"/>
                <a:ea typeface="Magnolia Script"/>
                <a:cs typeface="Magnolia Script"/>
                <a:sym typeface="Magnolia Script"/>
              </a:rPr>
              <a:t>Bright Coffee Shop</a:t>
            </a:r>
          </a:p>
        </p:txBody>
      </p:sp>
      <p:sp>
        <p:nvSpPr>
          <p:cNvPr id="5" name="Freeform 5"/>
          <p:cNvSpPr/>
          <p:nvPr/>
        </p:nvSpPr>
        <p:spPr>
          <a:xfrm>
            <a:off x="12420802" y="4327847"/>
            <a:ext cx="2670211" cy="2696861"/>
          </a:xfrm>
          <a:custGeom>
            <a:avLst/>
            <a:gdLst/>
            <a:ahLst/>
            <a:cxnLst/>
            <a:rect l="l" t="t" r="r" b="b"/>
            <a:pathLst>
              <a:path w="2670211" h="2696861">
                <a:moveTo>
                  <a:pt x="0" y="0"/>
                </a:moveTo>
                <a:lnTo>
                  <a:pt x="2670211" y="0"/>
                </a:lnTo>
                <a:lnTo>
                  <a:pt x="2670211" y="2696861"/>
                </a:lnTo>
                <a:lnTo>
                  <a:pt x="0" y="2696861"/>
                </a:lnTo>
                <a:lnTo>
                  <a:pt x="0" y="0"/>
                </a:lnTo>
                <a:close/>
              </a:path>
            </a:pathLst>
          </a:custGeom>
          <a:blipFill>
            <a:blip r:embed="rId4"/>
            <a:stretch>
              <a:fillRect b="-13042"/>
            </a:stretch>
          </a:blipFill>
        </p:spPr>
        <p:txBody>
          <a:bodyPr/>
          <a:lstStyle/>
          <a:p>
            <a:endParaRPr lang="en-ZA"/>
          </a:p>
        </p:txBody>
      </p:sp>
      <p:sp>
        <p:nvSpPr>
          <p:cNvPr id="6" name="Freeform 6"/>
          <p:cNvSpPr/>
          <p:nvPr/>
        </p:nvSpPr>
        <p:spPr>
          <a:xfrm flipH="1">
            <a:off x="3293895" y="4988529"/>
            <a:ext cx="1783445" cy="2036179"/>
          </a:xfrm>
          <a:custGeom>
            <a:avLst/>
            <a:gdLst/>
            <a:ahLst/>
            <a:cxnLst/>
            <a:rect l="l" t="t" r="r" b="b"/>
            <a:pathLst>
              <a:path w="1783445" h="2036179">
                <a:moveTo>
                  <a:pt x="1783445" y="0"/>
                </a:moveTo>
                <a:lnTo>
                  <a:pt x="0" y="0"/>
                </a:lnTo>
                <a:lnTo>
                  <a:pt x="0" y="2036179"/>
                </a:lnTo>
                <a:lnTo>
                  <a:pt x="1783445" y="2036179"/>
                </a:lnTo>
                <a:lnTo>
                  <a:pt x="1783445" y="0"/>
                </a:lnTo>
                <a:close/>
              </a:path>
            </a:pathLst>
          </a:custGeom>
          <a:blipFill>
            <a:blip r:embed="rId4"/>
            <a:stretch>
              <a:fillRect/>
            </a:stretch>
          </a:blipFill>
        </p:spPr>
        <p:txBody>
          <a:bodyPr/>
          <a:lstStyle/>
          <a:p>
            <a:endParaRPr lang="en-ZA"/>
          </a:p>
        </p:txBody>
      </p:sp>
      <p:sp>
        <p:nvSpPr>
          <p:cNvPr id="7" name="TextBox 7"/>
          <p:cNvSpPr txBox="1"/>
          <p:nvPr/>
        </p:nvSpPr>
        <p:spPr>
          <a:xfrm>
            <a:off x="12271457" y="6983198"/>
            <a:ext cx="5162216" cy="514084"/>
          </a:xfrm>
          <a:prstGeom prst="rect">
            <a:avLst/>
          </a:prstGeom>
        </p:spPr>
        <p:txBody>
          <a:bodyPr lIns="0" tIns="0" rIns="0" bIns="0" rtlCol="0" anchor="t">
            <a:spAutoFit/>
          </a:bodyPr>
          <a:lstStyle/>
          <a:p>
            <a:pPr algn="ctr">
              <a:lnSpc>
                <a:spcPts val="4214"/>
              </a:lnSpc>
              <a:spcBef>
                <a:spcPct val="0"/>
              </a:spcBef>
            </a:pPr>
            <a:r>
              <a:rPr lang="en-US" sz="3010">
                <a:solidFill>
                  <a:srgbClr val="FFFFFF"/>
                </a:solidFill>
                <a:latin typeface="Brittany"/>
                <a:ea typeface="Brittany"/>
                <a:cs typeface="Brittany"/>
                <a:sym typeface="Brittany"/>
              </a:rPr>
              <a:t>Presented By Sharon Mathebula</a:t>
            </a:r>
          </a:p>
        </p:txBody>
      </p:sp>
      <p:sp>
        <p:nvSpPr>
          <p:cNvPr id="8" name="TextBox 8"/>
          <p:cNvSpPr txBox="1"/>
          <p:nvPr/>
        </p:nvSpPr>
        <p:spPr>
          <a:xfrm>
            <a:off x="13337807" y="7771298"/>
            <a:ext cx="4095866" cy="855714"/>
          </a:xfrm>
          <a:prstGeom prst="rect">
            <a:avLst/>
          </a:prstGeom>
        </p:spPr>
        <p:txBody>
          <a:bodyPr lIns="0" tIns="0" rIns="0" bIns="0" rtlCol="0" anchor="t">
            <a:spAutoFit/>
          </a:bodyPr>
          <a:lstStyle/>
          <a:p>
            <a:pPr algn="ctr">
              <a:lnSpc>
                <a:spcPts val="3234"/>
              </a:lnSpc>
            </a:pPr>
            <a:r>
              <a:rPr lang="en-US" sz="2310">
                <a:solidFill>
                  <a:srgbClr val="FFFFFF"/>
                </a:solidFill>
                <a:latin typeface="Times New Roman MT"/>
                <a:ea typeface="Times New Roman MT"/>
                <a:cs typeface="Times New Roman MT"/>
                <a:sym typeface="Times New Roman MT"/>
              </a:rPr>
              <a:t>Data Scientist</a:t>
            </a:r>
          </a:p>
          <a:p>
            <a:pPr algn="ctr">
              <a:lnSpc>
                <a:spcPts val="3234"/>
              </a:lnSpc>
              <a:spcBef>
                <a:spcPct val="0"/>
              </a:spcBef>
            </a:pPr>
            <a:r>
              <a:rPr lang="en-US" sz="2310">
                <a:solidFill>
                  <a:srgbClr val="FFFFFF"/>
                </a:solidFill>
                <a:latin typeface="Times New Roman MT"/>
                <a:ea typeface="Times New Roman MT"/>
                <a:cs typeface="Times New Roman MT"/>
                <a:sym typeface="Times New Roman MT"/>
              </a:rPr>
              <a:t>Data Entrepreneur</a:t>
            </a:r>
          </a:p>
        </p:txBody>
      </p:sp>
      <p:sp>
        <p:nvSpPr>
          <p:cNvPr id="9" name="TextBox 9"/>
          <p:cNvSpPr txBox="1"/>
          <p:nvPr/>
        </p:nvSpPr>
        <p:spPr>
          <a:xfrm>
            <a:off x="1028700" y="370907"/>
            <a:ext cx="3259665" cy="300259"/>
          </a:xfrm>
          <a:prstGeom prst="rect">
            <a:avLst/>
          </a:prstGeom>
        </p:spPr>
        <p:txBody>
          <a:bodyPr lIns="0" tIns="0" rIns="0" bIns="0" rtlCol="0" anchor="t">
            <a:spAutoFit/>
          </a:bodyPr>
          <a:lstStyle/>
          <a:p>
            <a:pPr algn="ctr">
              <a:lnSpc>
                <a:spcPts val="2534"/>
              </a:lnSpc>
              <a:spcBef>
                <a:spcPct val="0"/>
              </a:spcBef>
            </a:pPr>
            <a:r>
              <a:rPr lang="en-US" sz="1810">
                <a:solidFill>
                  <a:srgbClr val="FFFFFF"/>
                </a:solidFill>
                <a:latin typeface="Canva Sans"/>
                <a:ea typeface="Canva Sans"/>
                <a:cs typeface="Canva Sans"/>
                <a:sym typeface="Canva Sans"/>
              </a:rPr>
              <a:t>www.ClearAnalytics.com</a:t>
            </a:r>
          </a:p>
        </p:txBody>
      </p:sp>
      <p:sp>
        <p:nvSpPr>
          <p:cNvPr id="10" name="TextBox 10"/>
          <p:cNvSpPr txBox="1"/>
          <p:nvPr/>
        </p:nvSpPr>
        <p:spPr>
          <a:xfrm>
            <a:off x="1561364" y="6929458"/>
            <a:ext cx="8793937" cy="908050"/>
          </a:xfrm>
          <a:prstGeom prst="rect">
            <a:avLst/>
          </a:prstGeom>
        </p:spPr>
        <p:txBody>
          <a:bodyPr lIns="0" tIns="0" rIns="0" bIns="0" rtlCol="0" anchor="t">
            <a:spAutoFit/>
          </a:bodyPr>
          <a:lstStyle/>
          <a:p>
            <a:pPr algn="ctr">
              <a:lnSpc>
                <a:spcPts val="3499"/>
              </a:lnSpc>
              <a:spcBef>
                <a:spcPct val="0"/>
              </a:spcBef>
            </a:pPr>
            <a:r>
              <a:rPr lang="en-US" sz="2499">
                <a:solidFill>
                  <a:srgbClr val="FFFFFF"/>
                </a:solidFill>
                <a:latin typeface="Times New Roman MT"/>
                <a:ea typeface="Times New Roman MT"/>
                <a:cs typeface="Times New Roman MT"/>
                <a:sym typeface="Times New Roman MT"/>
              </a:rPr>
              <a:t>COFFEE SHOP ANALYSIS REPORT : Data Driven Decisions for the CEO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TextBox 4"/>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5" name="Freeform 5"/>
          <p:cNvSpPr/>
          <p:nvPr/>
        </p:nvSpPr>
        <p:spPr>
          <a:xfrm>
            <a:off x="7255914" y="1850047"/>
            <a:ext cx="2814878" cy="172411"/>
          </a:xfrm>
          <a:custGeom>
            <a:avLst/>
            <a:gdLst/>
            <a:ahLst/>
            <a:cxnLst/>
            <a:rect l="l" t="t" r="r" b="b"/>
            <a:pathLst>
              <a:path w="2814878" h="172411">
                <a:moveTo>
                  <a:pt x="0" y="0"/>
                </a:moveTo>
                <a:lnTo>
                  <a:pt x="2814878" y="0"/>
                </a:lnTo>
                <a:lnTo>
                  <a:pt x="2814878" y="172411"/>
                </a:lnTo>
                <a:lnTo>
                  <a:pt x="0" y="1724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6" name="TextBox 6"/>
          <p:cNvSpPr txBox="1"/>
          <p:nvPr/>
        </p:nvSpPr>
        <p:spPr>
          <a:xfrm>
            <a:off x="6796675" y="1180411"/>
            <a:ext cx="3274117" cy="958850"/>
          </a:xfrm>
          <a:prstGeom prst="rect">
            <a:avLst/>
          </a:prstGeom>
        </p:spPr>
        <p:txBody>
          <a:bodyPr lIns="0" tIns="0" rIns="0" bIns="0" rtlCol="0" anchor="t">
            <a:spAutoFit/>
          </a:bodyPr>
          <a:lstStyle/>
          <a:p>
            <a:pPr algn="ctr">
              <a:lnSpc>
                <a:spcPts val="7000"/>
              </a:lnSpc>
              <a:spcBef>
                <a:spcPct val="0"/>
              </a:spcBef>
            </a:pPr>
            <a:r>
              <a:rPr lang="en-US" sz="5000" dirty="0">
                <a:solidFill>
                  <a:srgbClr val="9F5524"/>
                </a:solidFill>
                <a:latin typeface="Times New Roman MT"/>
                <a:ea typeface="Times New Roman MT"/>
                <a:cs typeface="Times New Roman MT"/>
                <a:sym typeface="Times New Roman MT"/>
              </a:rPr>
              <a:t>Content</a:t>
            </a:r>
          </a:p>
        </p:txBody>
      </p:sp>
      <p:sp>
        <p:nvSpPr>
          <p:cNvPr id="7" name="TextBox 7"/>
          <p:cNvSpPr txBox="1"/>
          <p:nvPr/>
        </p:nvSpPr>
        <p:spPr>
          <a:xfrm>
            <a:off x="6796674" y="2552700"/>
            <a:ext cx="6385925" cy="2748958"/>
          </a:xfrm>
          <a:prstGeom prst="rect">
            <a:avLst/>
          </a:prstGeom>
        </p:spPr>
        <p:txBody>
          <a:bodyPr wrap="square" lIns="0" tIns="0" rIns="0" bIns="0" rtlCol="0" anchor="t">
            <a:spAutoFit/>
          </a:bodyPr>
          <a:lstStyle/>
          <a:p>
            <a:pPr marL="561341" lvl="1" indent="-280670" algn="l">
              <a:lnSpc>
                <a:spcPts val="3640"/>
              </a:lnSpc>
              <a:buAutoNum type="arabicPeriod"/>
            </a:pPr>
            <a:r>
              <a:rPr lang="en-US" sz="2600" dirty="0">
                <a:solidFill>
                  <a:srgbClr val="160503"/>
                </a:solidFill>
                <a:latin typeface="Times New Roman MT"/>
                <a:ea typeface="Times New Roman MT"/>
                <a:cs typeface="Times New Roman MT"/>
                <a:sym typeface="Times New Roman MT"/>
              </a:rPr>
              <a:t>Overview</a:t>
            </a:r>
          </a:p>
          <a:p>
            <a:pPr marL="561341" lvl="1" indent="-280670" algn="l">
              <a:lnSpc>
                <a:spcPts val="3640"/>
              </a:lnSpc>
              <a:buAutoNum type="arabicPeriod"/>
            </a:pPr>
            <a:r>
              <a:rPr lang="en-US" sz="2600" dirty="0">
                <a:solidFill>
                  <a:srgbClr val="160503"/>
                </a:solidFill>
                <a:latin typeface="Times New Roman MT"/>
                <a:ea typeface="Times New Roman MT"/>
                <a:cs typeface="Times New Roman MT"/>
                <a:sym typeface="Times New Roman MT"/>
              </a:rPr>
              <a:t>Operational Systems</a:t>
            </a:r>
          </a:p>
          <a:p>
            <a:pPr marL="561341" lvl="1" indent="-280670" algn="l">
              <a:lnSpc>
                <a:spcPts val="3640"/>
              </a:lnSpc>
              <a:buAutoNum type="arabicPeriod"/>
            </a:pPr>
            <a:r>
              <a:rPr lang="en-US" sz="2600" dirty="0">
                <a:solidFill>
                  <a:srgbClr val="160503"/>
                </a:solidFill>
                <a:latin typeface="Times New Roman MT"/>
                <a:ea typeface="Times New Roman MT"/>
                <a:cs typeface="Times New Roman MT"/>
                <a:sym typeface="Times New Roman MT"/>
              </a:rPr>
              <a:t>Insights &amp; Findings</a:t>
            </a:r>
          </a:p>
          <a:p>
            <a:pPr marL="561341" lvl="1" indent="-280670" algn="l">
              <a:lnSpc>
                <a:spcPts val="3640"/>
              </a:lnSpc>
              <a:buAutoNum type="arabicPeriod"/>
            </a:pPr>
            <a:r>
              <a:rPr lang="en-US" sz="2600" dirty="0">
                <a:solidFill>
                  <a:srgbClr val="160503"/>
                </a:solidFill>
                <a:latin typeface="Times New Roman MT"/>
                <a:ea typeface="Times New Roman MT"/>
                <a:cs typeface="Times New Roman MT"/>
                <a:sym typeface="Times New Roman MT"/>
              </a:rPr>
              <a:t>Strategic Advice</a:t>
            </a:r>
          </a:p>
          <a:p>
            <a:pPr marL="561341" lvl="1" indent="-280670" algn="l">
              <a:lnSpc>
                <a:spcPts val="3640"/>
              </a:lnSpc>
              <a:buAutoNum type="arabicPeriod"/>
            </a:pPr>
            <a:r>
              <a:rPr lang="en-US" sz="2600" dirty="0">
                <a:solidFill>
                  <a:srgbClr val="160503"/>
                </a:solidFill>
                <a:latin typeface="Times New Roman MT"/>
                <a:ea typeface="Times New Roman MT"/>
                <a:cs typeface="Times New Roman MT"/>
                <a:sym typeface="Times New Roman MT"/>
              </a:rPr>
              <a:t>Implementing Plan</a:t>
            </a:r>
          </a:p>
          <a:p>
            <a:pPr marL="561341" lvl="1" indent="-280670" algn="l">
              <a:lnSpc>
                <a:spcPts val="3640"/>
              </a:lnSpc>
              <a:buAutoNum type="arabicPeriod"/>
            </a:pPr>
            <a:r>
              <a:rPr lang="en-US" sz="2600" dirty="0">
                <a:solidFill>
                  <a:srgbClr val="160503"/>
                </a:solidFill>
                <a:latin typeface="Times New Roman MT"/>
                <a:ea typeface="Times New Roman MT"/>
                <a:cs typeface="Times New Roman MT"/>
                <a:sym typeface="Times New Roman MT"/>
              </a:rPr>
              <a:t>Questions &amp; Answers</a:t>
            </a:r>
          </a:p>
        </p:txBody>
      </p:sp>
      <p:sp>
        <p:nvSpPr>
          <p:cNvPr id="8" name="TextBox 8"/>
          <p:cNvSpPr txBox="1"/>
          <p:nvPr/>
        </p:nvSpPr>
        <p:spPr>
          <a:xfrm>
            <a:off x="15544800" y="9622426"/>
            <a:ext cx="2617573"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9" name="Freeform 9"/>
          <p:cNvSpPr/>
          <p:nvPr/>
        </p:nvSpPr>
        <p:spPr>
          <a:xfrm>
            <a:off x="13422554" y="0"/>
            <a:ext cx="4739819" cy="4278523"/>
          </a:xfrm>
          <a:custGeom>
            <a:avLst/>
            <a:gdLst/>
            <a:ahLst/>
            <a:cxnLst/>
            <a:rect l="l" t="t" r="r" b="b"/>
            <a:pathLst>
              <a:path w="4739819" h="4278523">
                <a:moveTo>
                  <a:pt x="0" y="0"/>
                </a:moveTo>
                <a:lnTo>
                  <a:pt x="4739819" y="0"/>
                </a:lnTo>
                <a:lnTo>
                  <a:pt x="4739819" y="4278523"/>
                </a:lnTo>
                <a:lnTo>
                  <a:pt x="0" y="4278523"/>
                </a:lnTo>
                <a:lnTo>
                  <a:pt x="0" y="0"/>
                </a:lnTo>
                <a:close/>
              </a:path>
            </a:pathLst>
          </a:custGeom>
          <a:blipFill>
            <a:blip r:embed="rId5"/>
            <a:stretch>
              <a:fillRect t="-40268" r="-10661" b="-23386"/>
            </a:stretch>
          </a:blipFill>
        </p:spPr>
        <p:txBody>
          <a:bodyPr/>
          <a:lstStyle/>
          <a:p>
            <a:endParaRPr lang="en-ZA"/>
          </a:p>
        </p:txBody>
      </p:sp>
      <p:sp>
        <p:nvSpPr>
          <p:cNvPr id="10" name="Freeform 10"/>
          <p:cNvSpPr/>
          <p:nvPr/>
        </p:nvSpPr>
        <p:spPr>
          <a:xfrm>
            <a:off x="0" y="5882512"/>
            <a:ext cx="4739819" cy="4278523"/>
          </a:xfrm>
          <a:custGeom>
            <a:avLst/>
            <a:gdLst/>
            <a:ahLst/>
            <a:cxnLst/>
            <a:rect l="l" t="t" r="r" b="b"/>
            <a:pathLst>
              <a:path w="4739819" h="4278523">
                <a:moveTo>
                  <a:pt x="0" y="0"/>
                </a:moveTo>
                <a:lnTo>
                  <a:pt x="4739819" y="0"/>
                </a:lnTo>
                <a:lnTo>
                  <a:pt x="4739819" y="4278523"/>
                </a:lnTo>
                <a:lnTo>
                  <a:pt x="0" y="4278523"/>
                </a:lnTo>
                <a:lnTo>
                  <a:pt x="0" y="0"/>
                </a:lnTo>
                <a:close/>
              </a:path>
            </a:pathLst>
          </a:custGeom>
          <a:blipFill>
            <a:blip r:embed="rId5"/>
            <a:stretch>
              <a:fillRect t="-40268" r="-10661" b="-23386"/>
            </a:stretch>
          </a:blipFill>
        </p:spPr>
        <p:txBody>
          <a:bodyPr/>
          <a:lstStyle/>
          <a:p>
            <a:endParaRPr lang="en-Z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6693303" y="6408284"/>
            <a:ext cx="3422351" cy="209619"/>
          </a:xfrm>
          <a:custGeom>
            <a:avLst/>
            <a:gdLst/>
            <a:ahLst/>
            <a:cxnLst/>
            <a:rect l="l" t="t" r="r" b="b"/>
            <a:pathLst>
              <a:path w="3422351" h="209619">
                <a:moveTo>
                  <a:pt x="0" y="0"/>
                </a:moveTo>
                <a:lnTo>
                  <a:pt x="3422351" y="0"/>
                </a:lnTo>
                <a:lnTo>
                  <a:pt x="3422351" y="209619"/>
                </a:lnTo>
                <a:lnTo>
                  <a:pt x="0" y="20961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TextBox 5"/>
          <p:cNvSpPr txBox="1"/>
          <p:nvPr/>
        </p:nvSpPr>
        <p:spPr>
          <a:xfrm>
            <a:off x="15392400" y="9416447"/>
            <a:ext cx="2712144"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6" name="TextBox 6"/>
          <p:cNvSpPr txBox="1"/>
          <p:nvPr/>
        </p:nvSpPr>
        <p:spPr>
          <a:xfrm>
            <a:off x="4742738" y="5610089"/>
            <a:ext cx="7668304" cy="756617"/>
          </a:xfrm>
          <a:prstGeom prst="rect">
            <a:avLst/>
          </a:prstGeom>
        </p:spPr>
        <p:txBody>
          <a:bodyPr lIns="0" tIns="0" rIns="0" bIns="0" rtlCol="0" anchor="t">
            <a:spAutoFit/>
          </a:bodyPr>
          <a:lstStyle/>
          <a:p>
            <a:pPr algn="ctr">
              <a:lnSpc>
                <a:spcPts val="5880"/>
              </a:lnSpc>
              <a:spcBef>
                <a:spcPct val="0"/>
              </a:spcBef>
            </a:pPr>
            <a:r>
              <a:rPr lang="en-US" sz="5000" dirty="0">
                <a:solidFill>
                  <a:srgbClr val="9F5524"/>
                </a:solidFill>
                <a:latin typeface="Times New Roman MT"/>
                <a:ea typeface="Times New Roman MT"/>
                <a:cs typeface="Times New Roman MT"/>
                <a:sym typeface="Times New Roman MT"/>
              </a:rPr>
              <a:t>Operating</a:t>
            </a:r>
            <a:r>
              <a:rPr lang="en-US" sz="4200" dirty="0">
                <a:solidFill>
                  <a:srgbClr val="9F5524"/>
                </a:solidFill>
                <a:latin typeface="Times New Roman MT"/>
                <a:ea typeface="Times New Roman MT"/>
                <a:cs typeface="Times New Roman MT"/>
                <a:sym typeface="Times New Roman MT"/>
              </a:rPr>
              <a:t> </a:t>
            </a:r>
            <a:r>
              <a:rPr lang="en-US" sz="5000" dirty="0">
                <a:solidFill>
                  <a:srgbClr val="9F5524"/>
                </a:solidFill>
                <a:latin typeface="Times New Roman MT"/>
                <a:ea typeface="Times New Roman MT"/>
                <a:cs typeface="Times New Roman MT"/>
                <a:sym typeface="Times New Roman MT"/>
              </a:rPr>
              <a:t>Systems</a:t>
            </a:r>
          </a:p>
        </p:txBody>
      </p:sp>
      <p:sp>
        <p:nvSpPr>
          <p:cNvPr id="7" name="TextBox 7"/>
          <p:cNvSpPr txBox="1"/>
          <p:nvPr/>
        </p:nvSpPr>
        <p:spPr>
          <a:xfrm>
            <a:off x="1028700" y="386981"/>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8" name="TextBox 8"/>
          <p:cNvSpPr txBox="1"/>
          <p:nvPr/>
        </p:nvSpPr>
        <p:spPr>
          <a:xfrm>
            <a:off x="6009165" y="6831427"/>
            <a:ext cx="6691478" cy="2854325"/>
          </a:xfrm>
          <a:prstGeom prst="rect">
            <a:avLst/>
          </a:prstGeom>
        </p:spPr>
        <p:txBody>
          <a:bodyPr lIns="0" tIns="0" rIns="0" bIns="0" rtlCol="0" anchor="t">
            <a:spAutoFit/>
          </a:bodyPr>
          <a:lstStyle/>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Raw Data ingestion into Databricks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Data quality checks (nulls &amp; duplicates)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Data Processing</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Feature engineering (time &amp; behavioral features)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Trend and segmentation analysis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Dashboard development for visualization using Excel</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Insights and business recommendations</a:t>
            </a:r>
          </a:p>
          <a:p>
            <a:pPr algn="l">
              <a:lnSpc>
                <a:spcPts val="2800"/>
              </a:lnSpc>
              <a:spcBef>
                <a:spcPct val="0"/>
              </a:spcBef>
            </a:pPr>
            <a:endParaRPr lang="en-US" sz="2000" dirty="0">
              <a:solidFill>
                <a:srgbClr val="000000"/>
              </a:solidFill>
              <a:latin typeface="Times New Roman MT"/>
              <a:ea typeface="Times New Roman MT"/>
              <a:cs typeface="Times New Roman MT"/>
              <a:sym typeface="Times New Roman MT"/>
            </a:endParaRPr>
          </a:p>
        </p:txBody>
      </p:sp>
      <p:sp>
        <p:nvSpPr>
          <p:cNvPr id="9" name="TextBox 9"/>
          <p:cNvSpPr txBox="1"/>
          <p:nvPr/>
        </p:nvSpPr>
        <p:spPr>
          <a:xfrm>
            <a:off x="7136403" y="932803"/>
            <a:ext cx="2814878" cy="854721"/>
          </a:xfrm>
          <a:prstGeom prst="rect">
            <a:avLst/>
          </a:prstGeom>
        </p:spPr>
        <p:txBody>
          <a:bodyPr wrap="square" lIns="0" tIns="0" rIns="0" bIns="0" rtlCol="0" anchor="t">
            <a:spAutoFit/>
          </a:bodyPr>
          <a:lstStyle/>
          <a:p>
            <a:pPr algn="ctr">
              <a:lnSpc>
                <a:spcPts val="7000"/>
              </a:lnSpc>
              <a:spcBef>
                <a:spcPct val="0"/>
              </a:spcBef>
            </a:pPr>
            <a:r>
              <a:rPr lang="en-US" sz="5000" dirty="0">
                <a:solidFill>
                  <a:srgbClr val="9F5524"/>
                </a:solidFill>
                <a:latin typeface="Times New Roman MT"/>
                <a:ea typeface="Times New Roman MT"/>
                <a:cs typeface="Times New Roman MT"/>
                <a:sym typeface="Times New Roman MT"/>
              </a:rPr>
              <a:t>Overview</a:t>
            </a:r>
          </a:p>
        </p:txBody>
      </p:sp>
      <p:sp>
        <p:nvSpPr>
          <p:cNvPr id="10" name="Freeform 10"/>
          <p:cNvSpPr/>
          <p:nvPr/>
        </p:nvSpPr>
        <p:spPr>
          <a:xfrm>
            <a:off x="7136403" y="1701319"/>
            <a:ext cx="2814878" cy="172411"/>
          </a:xfrm>
          <a:custGeom>
            <a:avLst/>
            <a:gdLst/>
            <a:ahLst/>
            <a:cxnLst/>
            <a:rect l="l" t="t" r="r" b="b"/>
            <a:pathLst>
              <a:path w="2814878" h="172411">
                <a:moveTo>
                  <a:pt x="0" y="0"/>
                </a:moveTo>
                <a:lnTo>
                  <a:pt x="2814879" y="0"/>
                </a:lnTo>
                <a:lnTo>
                  <a:pt x="2814879" y="172412"/>
                </a:lnTo>
                <a:lnTo>
                  <a:pt x="0" y="1724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11" name="TextBox 11"/>
          <p:cNvSpPr txBox="1"/>
          <p:nvPr/>
        </p:nvSpPr>
        <p:spPr>
          <a:xfrm>
            <a:off x="3294584" y="2276223"/>
            <a:ext cx="12755941" cy="2855397"/>
          </a:xfrm>
          <a:prstGeom prst="rect">
            <a:avLst/>
          </a:prstGeom>
        </p:spPr>
        <p:txBody>
          <a:bodyPr lIns="0" tIns="0" rIns="0" bIns="0" rtlCol="0" anchor="t">
            <a:spAutoFit/>
          </a:bodyPr>
          <a:lstStyle/>
          <a:p>
            <a:pPr marL="431801" lvl="1" indent="-215900">
              <a:lnSpc>
                <a:spcPts val="2800"/>
              </a:lnSpc>
              <a:buFont typeface="Arial"/>
              <a:buChar char="•"/>
            </a:pPr>
            <a:r>
              <a:rPr lang="en-US" sz="2000" dirty="0">
                <a:solidFill>
                  <a:srgbClr val="000000"/>
                </a:solidFill>
                <a:latin typeface="Times New Roman MT"/>
                <a:ea typeface="Times New Roman MT"/>
                <a:cs typeface="Times New Roman MT"/>
                <a:sym typeface="Times New Roman MT"/>
              </a:rPr>
              <a:t>End-to-end analysis of six months of transactional data across three store locations, generating </a:t>
            </a:r>
            <a:r>
              <a:rPr lang="en-ZA" sz="2000" b="1" dirty="0">
                <a:latin typeface="Times New Roman" panose="02020603050405020304" pitchFamily="18" charset="0"/>
                <a:cs typeface="Times New Roman" panose="02020603050405020304" pitchFamily="18" charset="0"/>
              </a:rPr>
              <a:t>R698812.33, from 149116 sales with an average order value (AOV) of  R697319,18</a:t>
            </a:r>
            <a:r>
              <a:rPr lang="en-US" sz="2000" dirty="0">
                <a:solidFill>
                  <a:srgbClr val="000000"/>
                </a:solidFill>
                <a:latin typeface="Times New Roman MT"/>
                <a:ea typeface="Times New Roman MT"/>
                <a:cs typeface="Times New Roman MT"/>
                <a:sym typeface="Times New Roman MT"/>
              </a:rPr>
              <a:t>.</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The study uncovers key revenue trends, compares weekday and weekend performance, and identifies top-performing products and categories to determine when, where, and what drives sales.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Raw data was transformed into insight-driven metrics, including Average Order Value (AOV), seasonality, and time-based patterns.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The analysis highlights the key drivers of revenue and customer behavior, providing actionable insights to improve operational efficiency and support revenue growth.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TextBox 4"/>
          <p:cNvSpPr txBox="1"/>
          <p:nvPr/>
        </p:nvSpPr>
        <p:spPr>
          <a:xfrm>
            <a:off x="6288083" y="741305"/>
            <a:ext cx="5711834" cy="756617"/>
          </a:xfrm>
          <a:prstGeom prst="rect">
            <a:avLst/>
          </a:prstGeom>
        </p:spPr>
        <p:txBody>
          <a:bodyPr wrap="square"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5" name="Freeform 5"/>
          <p:cNvSpPr/>
          <p:nvPr/>
        </p:nvSpPr>
        <p:spPr>
          <a:xfrm>
            <a:off x="7169065" y="1368057"/>
            <a:ext cx="3101739" cy="189982"/>
          </a:xfrm>
          <a:custGeom>
            <a:avLst/>
            <a:gdLst/>
            <a:ahLst/>
            <a:cxnLst/>
            <a:rect l="l" t="t" r="r" b="b"/>
            <a:pathLst>
              <a:path w="3101739" h="189982">
                <a:moveTo>
                  <a:pt x="0" y="0"/>
                </a:moveTo>
                <a:lnTo>
                  <a:pt x="3101739" y="0"/>
                </a:lnTo>
                <a:lnTo>
                  <a:pt x="3101739" y="189981"/>
                </a:lnTo>
                <a:lnTo>
                  <a:pt x="0" y="1899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6" name="Freeform 6"/>
          <p:cNvSpPr/>
          <p:nvPr/>
        </p:nvSpPr>
        <p:spPr>
          <a:xfrm>
            <a:off x="753315" y="2413076"/>
            <a:ext cx="12098955" cy="6445006"/>
          </a:xfrm>
          <a:custGeom>
            <a:avLst/>
            <a:gdLst/>
            <a:ahLst/>
            <a:cxnLst/>
            <a:rect l="l" t="t" r="r" b="b"/>
            <a:pathLst>
              <a:path w="12098955" h="6445006">
                <a:moveTo>
                  <a:pt x="0" y="0"/>
                </a:moveTo>
                <a:lnTo>
                  <a:pt x="12098955" y="0"/>
                </a:lnTo>
                <a:lnTo>
                  <a:pt x="12098955" y="6445006"/>
                </a:lnTo>
                <a:lnTo>
                  <a:pt x="0" y="6445006"/>
                </a:lnTo>
                <a:lnTo>
                  <a:pt x="0" y="0"/>
                </a:lnTo>
                <a:close/>
              </a:path>
            </a:pathLst>
          </a:custGeom>
          <a:blipFill>
            <a:blip r:embed="rId5"/>
            <a:stretch>
              <a:fillRect l="-1037" r="-1571" b="-1128"/>
            </a:stretch>
          </a:blipFill>
        </p:spPr>
        <p:txBody>
          <a:bodyPr/>
          <a:lstStyle/>
          <a:p>
            <a:endParaRPr lang="en-ZA"/>
          </a:p>
        </p:txBody>
      </p:sp>
      <p:sp>
        <p:nvSpPr>
          <p:cNvPr id="7" name="TextBox 7"/>
          <p:cNvSpPr txBox="1"/>
          <p:nvPr/>
        </p:nvSpPr>
        <p:spPr>
          <a:xfrm>
            <a:off x="15240001" y="9581108"/>
            <a:ext cx="2716012"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8" name="TextBox 8"/>
          <p:cNvSpPr txBox="1"/>
          <p:nvPr/>
        </p:nvSpPr>
        <p:spPr>
          <a:xfrm>
            <a:off x="1028700" y="386981"/>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9" name="TextBox 9"/>
          <p:cNvSpPr txBox="1"/>
          <p:nvPr/>
        </p:nvSpPr>
        <p:spPr>
          <a:xfrm>
            <a:off x="12852270" y="3818255"/>
            <a:ext cx="5229616" cy="2555240"/>
          </a:xfrm>
          <a:prstGeom prst="rect">
            <a:avLst/>
          </a:prstGeom>
        </p:spPr>
        <p:txBody>
          <a:bodyPr lIns="0" tIns="0" rIns="0" bIns="0" rtlCol="0" anchor="t">
            <a:spAutoFit/>
          </a:bodyPr>
          <a:lstStyle/>
          <a:p>
            <a:pPr algn="ctr">
              <a:lnSpc>
                <a:spcPts val="3219"/>
              </a:lnSpc>
            </a:pPr>
            <a:endParaRPr dirty="0"/>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The revenue increases over time. </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The daily revenue has sharp ups &amp; downs (demand is not stable day to day).</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Quick periodic Drops every month end and pick ups. </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Stronger Performance in June.</a:t>
            </a:r>
          </a:p>
        </p:txBody>
      </p:sp>
      <p:sp>
        <p:nvSpPr>
          <p:cNvPr id="10" name="TextBox 10"/>
          <p:cNvSpPr txBox="1"/>
          <p:nvPr/>
        </p:nvSpPr>
        <p:spPr>
          <a:xfrm>
            <a:off x="3481925" y="1632029"/>
            <a:ext cx="10767475"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Daily Performance Throughout 6 months period of Transaction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803487" y="1123464"/>
            <a:ext cx="2681025" cy="164213"/>
          </a:xfrm>
          <a:custGeom>
            <a:avLst/>
            <a:gdLst/>
            <a:ahLst/>
            <a:cxnLst/>
            <a:rect l="l" t="t" r="r" b="b"/>
            <a:pathLst>
              <a:path w="2681025" h="164213">
                <a:moveTo>
                  <a:pt x="0" y="0"/>
                </a:moveTo>
                <a:lnTo>
                  <a:pt x="2681026" y="0"/>
                </a:lnTo>
                <a:lnTo>
                  <a:pt x="2681026" y="164212"/>
                </a:lnTo>
                <a:lnTo>
                  <a:pt x="0" y="1642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899227" y="2361873"/>
            <a:ext cx="7732919" cy="4355441"/>
          </a:xfrm>
          <a:custGeom>
            <a:avLst/>
            <a:gdLst/>
            <a:ahLst/>
            <a:cxnLst/>
            <a:rect l="l" t="t" r="r" b="b"/>
            <a:pathLst>
              <a:path w="7732919" h="4355441">
                <a:moveTo>
                  <a:pt x="0" y="0"/>
                </a:moveTo>
                <a:lnTo>
                  <a:pt x="7732919" y="0"/>
                </a:lnTo>
                <a:lnTo>
                  <a:pt x="7732919" y="4355441"/>
                </a:lnTo>
                <a:lnTo>
                  <a:pt x="0" y="4355441"/>
                </a:lnTo>
                <a:lnTo>
                  <a:pt x="0" y="0"/>
                </a:lnTo>
                <a:close/>
              </a:path>
            </a:pathLst>
          </a:custGeom>
          <a:blipFill>
            <a:blip r:embed="rId5"/>
            <a:stretch>
              <a:fillRect l="-65" r="-65"/>
            </a:stretch>
          </a:blipFill>
        </p:spPr>
        <p:txBody>
          <a:bodyPr/>
          <a:lstStyle/>
          <a:p>
            <a:endParaRPr lang="en-ZA"/>
          </a:p>
        </p:txBody>
      </p:sp>
      <p:sp>
        <p:nvSpPr>
          <p:cNvPr id="6" name="Freeform 6"/>
          <p:cNvSpPr/>
          <p:nvPr/>
        </p:nvSpPr>
        <p:spPr>
          <a:xfrm>
            <a:off x="9576828" y="2361873"/>
            <a:ext cx="7262067" cy="4364966"/>
          </a:xfrm>
          <a:custGeom>
            <a:avLst/>
            <a:gdLst/>
            <a:ahLst/>
            <a:cxnLst/>
            <a:rect l="l" t="t" r="r" b="b"/>
            <a:pathLst>
              <a:path w="7262067" h="4364966">
                <a:moveTo>
                  <a:pt x="0" y="0"/>
                </a:moveTo>
                <a:lnTo>
                  <a:pt x="7262067" y="0"/>
                </a:lnTo>
                <a:lnTo>
                  <a:pt x="7262067" y="4364966"/>
                </a:lnTo>
                <a:lnTo>
                  <a:pt x="0" y="4364966"/>
                </a:lnTo>
                <a:lnTo>
                  <a:pt x="0" y="0"/>
                </a:lnTo>
                <a:close/>
              </a:path>
            </a:pathLst>
          </a:custGeom>
          <a:blipFill>
            <a:blip r:embed="rId6"/>
            <a:stretch>
              <a:fillRect/>
            </a:stretch>
          </a:blipFill>
        </p:spPr>
        <p:txBody>
          <a:bodyPr/>
          <a:lstStyle/>
          <a:p>
            <a:endParaRPr lang="en-ZA"/>
          </a:p>
        </p:txBody>
      </p:sp>
      <p:sp>
        <p:nvSpPr>
          <p:cNvPr id="7" name="TextBox 7"/>
          <p:cNvSpPr txBox="1"/>
          <p:nvPr/>
        </p:nvSpPr>
        <p:spPr>
          <a:xfrm>
            <a:off x="15392401" y="9617634"/>
            <a:ext cx="2592428"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8" name="TextBox 8"/>
          <p:cNvSpPr txBox="1"/>
          <p:nvPr/>
        </p:nvSpPr>
        <p:spPr>
          <a:xfrm>
            <a:off x="6605355" y="437878"/>
            <a:ext cx="5540607" cy="756617"/>
          </a:xfrm>
          <a:prstGeom prst="rect">
            <a:avLst/>
          </a:prstGeom>
        </p:spPr>
        <p:txBody>
          <a:bodyPr wrap="square"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9" name="TextBox 9"/>
          <p:cNvSpPr txBox="1"/>
          <p:nvPr/>
        </p:nvSpPr>
        <p:spPr>
          <a:xfrm>
            <a:off x="874218" y="6921336"/>
            <a:ext cx="8269782" cy="2501900"/>
          </a:xfrm>
          <a:prstGeom prst="rect">
            <a:avLst/>
          </a:prstGeom>
        </p:spPr>
        <p:txBody>
          <a:bodyPr lIns="0" tIns="0" rIns="0" bIns="0" rtlCol="0" anchor="t">
            <a:spAutoFit/>
          </a:bodyPr>
          <a:lstStyle/>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Winter drives the highest revenue high demand of hot beverages. Hence June is the peak month. </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Autum shows strong but moderate performance.</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Summer is the weakest season. Low demand of hot beverages</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Strong correlation between sales &amp; revenue; growth driven by number of transactions rather than price increases</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Revenue &amp; sales growth overtime indicates  seasonality pattern</a:t>
            </a:r>
          </a:p>
        </p:txBody>
      </p:sp>
      <p:sp>
        <p:nvSpPr>
          <p:cNvPr id="10" name="TextBox 10"/>
          <p:cNvSpPr txBox="1"/>
          <p:nvPr/>
        </p:nvSpPr>
        <p:spPr>
          <a:xfrm>
            <a:off x="9576828" y="6974489"/>
            <a:ext cx="8269782" cy="2496324"/>
          </a:xfrm>
          <a:prstGeom prst="rect">
            <a:avLst/>
          </a:prstGeom>
        </p:spPr>
        <p:txBody>
          <a:bodyPr lIns="0" tIns="0" rIns="0" bIns="0" rtlCol="0" anchor="t">
            <a:spAutoFit/>
          </a:bodyPr>
          <a:lstStyle/>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Mid month drives the highest revenue generation</a:t>
            </a:r>
          </a:p>
          <a:p>
            <a:pPr marL="431801" lvl="1" indent="-215900">
              <a:lnSpc>
                <a:spcPts val="2800"/>
              </a:lnSpc>
              <a:buFont typeface="Arial"/>
              <a:buChar char="•"/>
            </a:pPr>
            <a:r>
              <a:rPr lang="en-US" sz="2000" dirty="0">
                <a:solidFill>
                  <a:srgbClr val="000000"/>
                </a:solidFill>
                <a:latin typeface="Times New Roman MT"/>
                <a:ea typeface="Times New Roman MT"/>
                <a:cs typeface="Times New Roman MT"/>
                <a:sym typeface="Times New Roman MT"/>
              </a:rPr>
              <a:t>In overall, the beginning of month is weakest. Customers may be prioritizing bills.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Month end very close to mid month, possible influence of discount cycles or stock clearance.</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 Thus, a quick pick of revenue after a slight drop i.e., purchase date vs revenue.</a:t>
            </a:r>
          </a:p>
        </p:txBody>
      </p:sp>
      <p:sp>
        <p:nvSpPr>
          <p:cNvPr id="11" name="TextBox 11"/>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2" name="TextBox 12"/>
          <p:cNvSpPr txBox="1"/>
          <p:nvPr/>
        </p:nvSpPr>
        <p:spPr>
          <a:xfrm>
            <a:off x="6477000" y="1504626"/>
            <a:ext cx="5797318"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Monthly &amp; Seasonal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683658" y="1090887"/>
            <a:ext cx="2681025" cy="164213"/>
          </a:xfrm>
          <a:custGeom>
            <a:avLst/>
            <a:gdLst/>
            <a:ahLst/>
            <a:cxnLst/>
            <a:rect l="l" t="t" r="r" b="b"/>
            <a:pathLst>
              <a:path w="2681025" h="164213">
                <a:moveTo>
                  <a:pt x="0" y="0"/>
                </a:moveTo>
                <a:lnTo>
                  <a:pt x="2681025" y="0"/>
                </a:lnTo>
                <a:lnTo>
                  <a:pt x="2681025"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8077200" y="2316533"/>
            <a:ext cx="6568806" cy="3360780"/>
          </a:xfrm>
          <a:custGeom>
            <a:avLst/>
            <a:gdLst/>
            <a:ahLst/>
            <a:cxnLst/>
            <a:rect l="l" t="t" r="r" b="b"/>
            <a:pathLst>
              <a:path w="6568806" h="3360780">
                <a:moveTo>
                  <a:pt x="0" y="0"/>
                </a:moveTo>
                <a:lnTo>
                  <a:pt x="6568806" y="0"/>
                </a:lnTo>
                <a:lnTo>
                  <a:pt x="6568806" y="3360781"/>
                </a:lnTo>
                <a:lnTo>
                  <a:pt x="0" y="3360781"/>
                </a:lnTo>
                <a:lnTo>
                  <a:pt x="0" y="0"/>
                </a:lnTo>
                <a:close/>
              </a:path>
            </a:pathLst>
          </a:custGeom>
          <a:blipFill>
            <a:blip r:embed="rId5"/>
            <a:stretch>
              <a:fillRect b="-3346"/>
            </a:stretch>
          </a:blipFill>
        </p:spPr>
        <p:txBody>
          <a:bodyPr/>
          <a:lstStyle/>
          <a:p>
            <a:endParaRPr lang="en-ZA"/>
          </a:p>
        </p:txBody>
      </p:sp>
      <p:sp>
        <p:nvSpPr>
          <p:cNvPr id="6" name="Freeform 6"/>
          <p:cNvSpPr/>
          <p:nvPr/>
        </p:nvSpPr>
        <p:spPr>
          <a:xfrm>
            <a:off x="860300" y="5677313"/>
            <a:ext cx="6681412" cy="3906385"/>
          </a:xfrm>
          <a:custGeom>
            <a:avLst/>
            <a:gdLst/>
            <a:ahLst/>
            <a:cxnLst/>
            <a:rect l="l" t="t" r="r" b="b"/>
            <a:pathLst>
              <a:path w="6788397" h="3877752">
                <a:moveTo>
                  <a:pt x="0" y="0"/>
                </a:moveTo>
                <a:lnTo>
                  <a:pt x="6788397" y="0"/>
                </a:lnTo>
                <a:lnTo>
                  <a:pt x="6788397" y="3877752"/>
                </a:lnTo>
                <a:lnTo>
                  <a:pt x="0" y="3877752"/>
                </a:lnTo>
                <a:lnTo>
                  <a:pt x="0" y="0"/>
                </a:lnTo>
                <a:close/>
              </a:path>
            </a:pathLst>
          </a:custGeom>
          <a:blipFill>
            <a:blip r:embed="rId6"/>
            <a:stretch>
              <a:fillRect t="-2681" b="-2681"/>
            </a:stretch>
          </a:blipFill>
        </p:spPr>
        <p:txBody>
          <a:bodyPr/>
          <a:lstStyle/>
          <a:p>
            <a:endParaRPr lang="en-ZA"/>
          </a:p>
        </p:txBody>
      </p:sp>
      <p:sp>
        <p:nvSpPr>
          <p:cNvPr id="7" name="Freeform 7"/>
          <p:cNvSpPr/>
          <p:nvPr/>
        </p:nvSpPr>
        <p:spPr>
          <a:xfrm>
            <a:off x="860300" y="2321266"/>
            <a:ext cx="6823358" cy="3360780"/>
          </a:xfrm>
          <a:custGeom>
            <a:avLst/>
            <a:gdLst/>
            <a:ahLst/>
            <a:cxnLst/>
            <a:rect l="l" t="t" r="r" b="b"/>
            <a:pathLst>
              <a:path w="6823358" h="3360780">
                <a:moveTo>
                  <a:pt x="0" y="0"/>
                </a:moveTo>
                <a:lnTo>
                  <a:pt x="6823358" y="0"/>
                </a:lnTo>
                <a:lnTo>
                  <a:pt x="6823358" y="3360781"/>
                </a:lnTo>
                <a:lnTo>
                  <a:pt x="0" y="3360781"/>
                </a:lnTo>
                <a:lnTo>
                  <a:pt x="0" y="0"/>
                </a:lnTo>
                <a:close/>
              </a:path>
            </a:pathLst>
          </a:custGeom>
          <a:blipFill>
            <a:blip r:embed="rId7"/>
            <a:stretch>
              <a:fillRect t="-2279" b="-2279"/>
            </a:stretch>
          </a:blipFill>
        </p:spPr>
        <p:txBody>
          <a:bodyPr/>
          <a:lstStyle/>
          <a:p>
            <a:endParaRPr lang="en-ZA"/>
          </a:p>
        </p:txBody>
      </p:sp>
      <p:sp>
        <p:nvSpPr>
          <p:cNvPr id="8" name="TextBox 8"/>
          <p:cNvSpPr txBox="1"/>
          <p:nvPr/>
        </p:nvSpPr>
        <p:spPr>
          <a:xfrm>
            <a:off x="15264581" y="9583698"/>
            <a:ext cx="2717554"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9" name="TextBox 9"/>
          <p:cNvSpPr txBox="1"/>
          <p:nvPr/>
        </p:nvSpPr>
        <p:spPr>
          <a:xfrm>
            <a:off x="6553200" y="438996"/>
            <a:ext cx="5668406" cy="756617"/>
          </a:xfrm>
          <a:prstGeom prst="rect">
            <a:avLst/>
          </a:prstGeom>
        </p:spPr>
        <p:txBody>
          <a:bodyPr wrap="square"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10" name="TextBox 10"/>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1" name="TextBox 11"/>
          <p:cNvSpPr txBox="1"/>
          <p:nvPr/>
        </p:nvSpPr>
        <p:spPr>
          <a:xfrm>
            <a:off x="7420381" y="6048649"/>
            <a:ext cx="10561754" cy="3206747"/>
          </a:xfrm>
          <a:prstGeom prst="rect">
            <a:avLst/>
          </a:prstGeom>
        </p:spPr>
        <p:txBody>
          <a:bodyPr lIns="0" tIns="0" rIns="0" bIns="0" rtlCol="0" anchor="t">
            <a:spAutoFit/>
          </a:bodyPr>
          <a:lstStyle/>
          <a:p>
            <a:pPr marL="431828" lvl="1" indent="-215914"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March(Autum) performs best in Q1 suggesting strong latter quarter sales.</a:t>
            </a:r>
          </a:p>
          <a:p>
            <a:pPr marL="431828" lvl="1" indent="-215914"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Q2 significantly outperforms Q1 across all key metrics , sales distribution, revenue contribution average order value with June (Winter) being the highest revenue month overall.</a:t>
            </a:r>
          </a:p>
          <a:p>
            <a:pPr marL="431828" lvl="1" indent="-215914"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Winter months generates the highest revenue.</a:t>
            </a:r>
          </a:p>
          <a:p>
            <a:pPr marL="431828" lvl="1" indent="-215914"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Revenue contribution shows a strong shift with Q2 contributing 63% of total revenue compared to Q1 at 37%.</a:t>
            </a:r>
          </a:p>
          <a:p>
            <a:pPr marL="431828" lvl="1" indent="-215914"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Number of sales nearly doubled in Q2 showing higher customer activity and demand for hot beverages.</a:t>
            </a:r>
          </a:p>
          <a:p>
            <a:pPr marL="431828" lvl="1" indent="-215914"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Average order value increased in Q2 indicating customers are spending more per transaction.</a:t>
            </a:r>
          </a:p>
        </p:txBody>
      </p:sp>
      <p:sp>
        <p:nvSpPr>
          <p:cNvPr id="12" name="TextBox 12"/>
          <p:cNvSpPr txBox="1"/>
          <p:nvPr/>
        </p:nvSpPr>
        <p:spPr>
          <a:xfrm>
            <a:off x="6172200" y="1444836"/>
            <a:ext cx="5066552"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Quarterly Performance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160155" y="1090887"/>
            <a:ext cx="2681025" cy="164213"/>
          </a:xfrm>
          <a:custGeom>
            <a:avLst/>
            <a:gdLst/>
            <a:ahLst/>
            <a:cxnLst/>
            <a:rect l="l" t="t" r="r" b="b"/>
            <a:pathLst>
              <a:path w="2681025" h="164213">
                <a:moveTo>
                  <a:pt x="0" y="0"/>
                </a:moveTo>
                <a:lnTo>
                  <a:pt x="2681025" y="0"/>
                </a:lnTo>
                <a:lnTo>
                  <a:pt x="2681025"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473049" y="2338996"/>
            <a:ext cx="8501224" cy="4556756"/>
          </a:xfrm>
          <a:custGeom>
            <a:avLst/>
            <a:gdLst/>
            <a:ahLst/>
            <a:cxnLst/>
            <a:rect l="l" t="t" r="r" b="b"/>
            <a:pathLst>
              <a:path w="8501224" h="4556756">
                <a:moveTo>
                  <a:pt x="0" y="0"/>
                </a:moveTo>
                <a:lnTo>
                  <a:pt x="8501224" y="0"/>
                </a:lnTo>
                <a:lnTo>
                  <a:pt x="8501224" y="4556756"/>
                </a:lnTo>
                <a:lnTo>
                  <a:pt x="0" y="4556756"/>
                </a:lnTo>
                <a:lnTo>
                  <a:pt x="0" y="0"/>
                </a:lnTo>
                <a:close/>
              </a:path>
            </a:pathLst>
          </a:custGeom>
          <a:blipFill>
            <a:blip r:embed="rId5"/>
            <a:stretch>
              <a:fillRect l="-793" r="-14788"/>
            </a:stretch>
          </a:blipFill>
        </p:spPr>
        <p:txBody>
          <a:bodyPr/>
          <a:lstStyle/>
          <a:p>
            <a:endParaRPr lang="en-ZA"/>
          </a:p>
        </p:txBody>
      </p:sp>
      <p:sp>
        <p:nvSpPr>
          <p:cNvPr id="6" name="Freeform 6"/>
          <p:cNvSpPr/>
          <p:nvPr/>
        </p:nvSpPr>
        <p:spPr>
          <a:xfrm>
            <a:off x="9434609" y="2418574"/>
            <a:ext cx="7385035" cy="4477178"/>
          </a:xfrm>
          <a:custGeom>
            <a:avLst/>
            <a:gdLst/>
            <a:ahLst/>
            <a:cxnLst/>
            <a:rect l="l" t="t" r="r" b="b"/>
            <a:pathLst>
              <a:path w="7385035" h="4477178">
                <a:moveTo>
                  <a:pt x="0" y="0"/>
                </a:moveTo>
                <a:lnTo>
                  <a:pt x="7385036" y="0"/>
                </a:lnTo>
                <a:lnTo>
                  <a:pt x="7385036" y="4477178"/>
                </a:lnTo>
                <a:lnTo>
                  <a:pt x="0" y="4477178"/>
                </a:lnTo>
                <a:lnTo>
                  <a:pt x="0" y="0"/>
                </a:lnTo>
                <a:close/>
              </a:path>
            </a:pathLst>
          </a:custGeom>
          <a:blipFill>
            <a:blip r:embed="rId6"/>
            <a:stretch>
              <a:fillRect/>
            </a:stretch>
          </a:blipFill>
        </p:spPr>
        <p:txBody>
          <a:bodyPr/>
          <a:lstStyle/>
          <a:p>
            <a:endParaRPr lang="en-ZA"/>
          </a:p>
        </p:txBody>
      </p:sp>
      <p:sp>
        <p:nvSpPr>
          <p:cNvPr id="7" name="TextBox 7"/>
          <p:cNvSpPr txBox="1"/>
          <p:nvPr/>
        </p:nvSpPr>
        <p:spPr>
          <a:xfrm>
            <a:off x="15764604" y="9550656"/>
            <a:ext cx="2501273"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8" name="TextBox 8"/>
          <p:cNvSpPr txBox="1"/>
          <p:nvPr/>
        </p:nvSpPr>
        <p:spPr>
          <a:xfrm>
            <a:off x="6336988" y="374799"/>
            <a:ext cx="5274570" cy="756617"/>
          </a:xfrm>
          <a:prstGeom prst="rect">
            <a:avLst/>
          </a:prstGeom>
        </p:spPr>
        <p:txBody>
          <a:bodyPr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9" name="TextBox 9"/>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0" name="TextBox 10"/>
          <p:cNvSpPr txBox="1"/>
          <p:nvPr/>
        </p:nvSpPr>
        <p:spPr>
          <a:xfrm>
            <a:off x="128193" y="7038890"/>
            <a:ext cx="18159807" cy="2149473"/>
          </a:xfrm>
          <a:prstGeom prst="rect">
            <a:avLst/>
          </a:prstGeom>
        </p:spPr>
        <p:txBody>
          <a:bodyPr lIns="0" tIns="0" rIns="0" bIns="0" rtlCol="0" anchor="t">
            <a:spAutoFit/>
          </a:bodyPr>
          <a:lstStyle/>
          <a:p>
            <a:pPr marL="431813" lvl="1" indent="-215907"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Monday  shows the peak performance and closely followed by Friday.</a:t>
            </a:r>
          </a:p>
          <a:p>
            <a:pPr marL="431813" lvl="1" indent="-215907"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The trend shows a drop  later Monday to Tuesday followed by a steady recovery through Friday before dropping off on weekend</a:t>
            </a:r>
          </a:p>
          <a:p>
            <a:pPr marL="431813" lvl="1" indent="-215907"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Weekdays generates significant activity.</a:t>
            </a:r>
          </a:p>
          <a:p>
            <a:pPr marL="431813" lvl="1" indent="-215907"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Weekdays account for most of the revenue (approximately R503587,54), order volume (around 107510) and sells about 107202 products, which is more than double the figures for the weekend (approximately R19524,79 in revenue, 41606 orders and about 41500 products sold).</a:t>
            </a:r>
          </a:p>
          <a:p>
            <a:pPr marL="431813" lvl="1" indent="-215907"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The notably higher activity during weekdays suggests that operations, staffing, and inventory should be adjusted to prioritize weekday demand.</a:t>
            </a:r>
          </a:p>
        </p:txBody>
      </p:sp>
      <p:sp>
        <p:nvSpPr>
          <p:cNvPr id="11" name="TextBox 11"/>
          <p:cNvSpPr txBox="1"/>
          <p:nvPr/>
        </p:nvSpPr>
        <p:spPr>
          <a:xfrm>
            <a:off x="5486400" y="1529373"/>
            <a:ext cx="6435563"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Weekly Trends  &amp; Weekly Segments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018525" y="1203844"/>
            <a:ext cx="2681025" cy="164213"/>
          </a:xfrm>
          <a:custGeom>
            <a:avLst/>
            <a:gdLst/>
            <a:ahLst/>
            <a:cxnLst/>
            <a:rect l="l" t="t" r="r" b="b"/>
            <a:pathLst>
              <a:path w="2681025" h="164213">
                <a:moveTo>
                  <a:pt x="0" y="0"/>
                </a:moveTo>
                <a:lnTo>
                  <a:pt x="2681025" y="0"/>
                </a:lnTo>
                <a:lnTo>
                  <a:pt x="2681025"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1172886" y="2546380"/>
            <a:ext cx="7971114" cy="4443896"/>
          </a:xfrm>
          <a:custGeom>
            <a:avLst/>
            <a:gdLst/>
            <a:ahLst/>
            <a:cxnLst/>
            <a:rect l="l" t="t" r="r" b="b"/>
            <a:pathLst>
              <a:path w="7971114" h="4443896">
                <a:moveTo>
                  <a:pt x="0" y="0"/>
                </a:moveTo>
                <a:lnTo>
                  <a:pt x="7971114" y="0"/>
                </a:lnTo>
                <a:lnTo>
                  <a:pt x="7971114" y="4443896"/>
                </a:lnTo>
                <a:lnTo>
                  <a:pt x="0" y="4443896"/>
                </a:lnTo>
                <a:lnTo>
                  <a:pt x="0" y="0"/>
                </a:lnTo>
                <a:close/>
              </a:path>
            </a:pathLst>
          </a:custGeom>
          <a:blipFill>
            <a:blip r:embed="rId5"/>
            <a:stretch>
              <a:fillRect/>
            </a:stretch>
          </a:blipFill>
        </p:spPr>
        <p:txBody>
          <a:bodyPr/>
          <a:lstStyle/>
          <a:p>
            <a:endParaRPr lang="en-ZA"/>
          </a:p>
        </p:txBody>
      </p:sp>
      <p:sp>
        <p:nvSpPr>
          <p:cNvPr id="6" name="TextBox 6"/>
          <p:cNvSpPr txBox="1"/>
          <p:nvPr/>
        </p:nvSpPr>
        <p:spPr>
          <a:xfrm>
            <a:off x="15621000" y="9503345"/>
            <a:ext cx="2429172"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7" name="TextBox 7"/>
          <p:cNvSpPr txBox="1"/>
          <p:nvPr/>
        </p:nvSpPr>
        <p:spPr>
          <a:xfrm>
            <a:off x="5867400" y="565634"/>
            <a:ext cx="5619296" cy="756617"/>
          </a:xfrm>
          <a:prstGeom prst="rect">
            <a:avLst/>
          </a:prstGeom>
        </p:spPr>
        <p:txBody>
          <a:bodyPr wrap="square"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 Findings</a:t>
            </a:r>
          </a:p>
        </p:txBody>
      </p:sp>
      <p:sp>
        <p:nvSpPr>
          <p:cNvPr id="8" name="TextBox 8"/>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9" name="Freeform 9"/>
          <p:cNvSpPr/>
          <p:nvPr/>
        </p:nvSpPr>
        <p:spPr>
          <a:xfrm>
            <a:off x="9144000" y="2634597"/>
            <a:ext cx="7031841" cy="4355680"/>
          </a:xfrm>
          <a:custGeom>
            <a:avLst/>
            <a:gdLst/>
            <a:ahLst/>
            <a:cxnLst/>
            <a:rect l="l" t="t" r="r" b="b"/>
            <a:pathLst>
              <a:path w="7031841" h="4355680">
                <a:moveTo>
                  <a:pt x="0" y="0"/>
                </a:moveTo>
                <a:lnTo>
                  <a:pt x="7031841" y="0"/>
                </a:lnTo>
                <a:lnTo>
                  <a:pt x="7031841" y="4355679"/>
                </a:lnTo>
                <a:lnTo>
                  <a:pt x="0" y="4355679"/>
                </a:lnTo>
                <a:lnTo>
                  <a:pt x="0" y="0"/>
                </a:lnTo>
                <a:close/>
              </a:path>
            </a:pathLst>
          </a:custGeom>
          <a:blipFill>
            <a:blip r:embed="rId6"/>
            <a:stretch>
              <a:fillRect l="-1458" r="-1458"/>
            </a:stretch>
          </a:blipFill>
        </p:spPr>
        <p:txBody>
          <a:bodyPr/>
          <a:lstStyle/>
          <a:p>
            <a:endParaRPr lang="en-ZA"/>
          </a:p>
        </p:txBody>
      </p:sp>
      <p:sp>
        <p:nvSpPr>
          <p:cNvPr id="10" name="TextBox 10"/>
          <p:cNvSpPr txBox="1"/>
          <p:nvPr/>
        </p:nvSpPr>
        <p:spPr>
          <a:xfrm>
            <a:off x="1210568" y="7108825"/>
            <a:ext cx="15866864" cy="2496324"/>
          </a:xfrm>
          <a:prstGeom prst="rect">
            <a:avLst/>
          </a:prstGeom>
        </p:spPr>
        <p:txBody>
          <a:bodyPr lIns="0" tIns="0" rIns="0" bIns="0" rtlCol="0" anchor="t">
            <a:spAutoFit/>
          </a:bodyPr>
          <a:lstStyle/>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Morning throughout the weeks is the primary revenue engine, consistently generating 3x to 5x most revenue than any other time.</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Tuesday and Fridays are the strongest performers for morning sales .</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Afternoon is the second tier of income, contributing a steady ~R25 000 to R30 000 daily. </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Evening  is the weakest performing  period, typically ranging between R10 000 to R13 000 throughout the weeks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Morning accounts for most of the revenue (~55,56%), more than the combined Afternoon and Evening shares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Afternoon contributes roughly ~29,30% while Evening is the smallest segment (~15.14%), indicating a strong morning-focused demand pattern.</a:t>
            </a:r>
          </a:p>
        </p:txBody>
      </p:sp>
      <p:sp>
        <p:nvSpPr>
          <p:cNvPr id="11" name="TextBox 11"/>
          <p:cNvSpPr txBox="1"/>
          <p:nvPr/>
        </p:nvSpPr>
        <p:spPr>
          <a:xfrm>
            <a:off x="5105400" y="1604795"/>
            <a:ext cx="6833180"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Weekly Performance &amp; Time Segments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803487" y="1143083"/>
            <a:ext cx="2681025" cy="164213"/>
          </a:xfrm>
          <a:custGeom>
            <a:avLst/>
            <a:gdLst/>
            <a:ahLst/>
            <a:cxnLst/>
            <a:rect l="l" t="t" r="r" b="b"/>
            <a:pathLst>
              <a:path w="2681025" h="164213">
                <a:moveTo>
                  <a:pt x="0" y="0"/>
                </a:moveTo>
                <a:lnTo>
                  <a:pt x="2681026" y="0"/>
                </a:lnTo>
                <a:lnTo>
                  <a:pt x="2681026"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701624" y="2845975"/>
            <a:ext cx="5872880" cy="3310778"/>
          </a:xfrm>
          <a:custGeom>
            <a:avLst/>
            <a:gdLst/>
            <a:ahLst/>
            <a:cxnLst/>
            <a:rect l="l" t="t" r="r" b="b"/>
            <a:pathLst>
              <a:path w="5872880" h="3310778">
                <a:moveTo>
                  <a:pt x="0" y="0"/>
                </a:moveTo>
                <a:lnTo>
                  <a:pt x="5872880" y="0"/>
                </a:lnTo>
                <a:lnTo>
                  <a:pt x="5872880" y="3310778"/>
                </a:lnTo>
                <a:lnTo>
                  <a:pt x="0" y="3310778"/>
                </a:lnTo>
                <a:lnTo>
                  <a:pt x="0" y="0"/>
                </a:lnTo>
                <a:close/>
              </a:path>
            </a:pathLst>
          </a:custGeom>
          <a:blipFill>
            <a:blip r:embed="rId5"/>
            <a:stretch>
              <a:fillRect t="-4246" b="-2520"/>
            </a:stretch>
          </a:blipFill>
        </p:spPr>
        <p:txBody>
          <a:bodyPr/>
          <a:lstStyle/>
          <a:p>
            <a:endParaRPr lang="en-ZA"/>
          </a:p>
        </p:txBody>
      </p:sp>
      <p:sp>
        <p:nvSpPr>
          <p:cNvPr id="6" name="Freeform 6"/>
          <p:cNvSpPr/>
          <p:nvPr/>
        </p:nvSpPr>
        <p:spPr>
          <a:xfrm>
            <a:off x="6574504" y="2788828"/>
            <a:ext cx="5603274" cy="3367925"/>
          </a:xfrm>
          <a:custGeom>
            <a:avLst/>
            <a:gdLst/>
            <a:ahLst/>
            <a:cxnLst/>
            <a:rect l="l" t="t" r="r" b="b"/>
            <a:pathLst>
              <a:path w="5603274" h="3367925">
                <a:moveTo>
                  <a:pt x="0" y="0"/>
                </a:moveTo>
                <a:lnTo>
                  <a:pt x="5603274" y="0"/>
                </a:lnTo>
                <a:lnTo>
                  <a:pt x="5603274" y="3367925"/>
                </a:lnTo>
                <a:lnTo>
                  <a:pt x="0" y="3367925"/>
                </a:lnTo>
                <a:lnTo>
                  <a:pt x="0" y="0"/>
                </a:lnTo>
                <a:close/>
              </a:path>
            </a:pathLst>
          </a:custGeom>
          <a:blipFill>
            <a:blip r:embed="rId6"/>
            <a:stretch>
              <a:fillRect/>
            </a:stretch>
          </a:blipFill>
        </p:spPr>
        <p:txBody>
          <a:bodyPr/>
          <a:lstStyle/>
          <a:p>
            <a:endParaRPr lang="en-ZA"/>
          </a:p>
        </p:txBody>
      </p:sp>
      <p:sp>
        <p:nvSpPr>
          <p:cNvPr id="7" name="Freeform 7"/>
          <p:cNvSpPr/>
          <p:nvPr/>
        </p:nvSpPr>
        <p:spPr>
          <a:xfrm>
            <a:off x="12177778" y="2788828"/>
            <a:ext cx="5945472" cy="3367925"/>
          </a:xfrm>
          <a:custGeom>
            <a:avLst/>
            <a:gdLst/>
            <a:ahLst/>
            <a:cxnLst/>
            <a:rect l="l" t="t" r="r" b="b"/>
            <a:pathLst>
              <a:path w="5945472" h="3367925">
                <a:moveTo>
                  <a:pt x="0" y="0"/>
                </a:moveTo>
                <a:lnTo>
                  <a:pt x="5945472" y="0"/>
                </a:lnTo>
                <a:lnTo>
                  <a:pt x="5945472" y="3367925"/>
                </a:lnTo>
                <a:lnTo>
                  <a:pt x="0" y="3367925"/>
                </a:lnTo>
                <a:lnTo>
                  <a:pt x="0" y="0"/>
                </a:lnTo>
                <a:close/>
              </a:path>
            </a:pathLst>
          </a:custGeom>
          <a:blipFill>
            <a:blip r:embed="rId7"/>
            <a:stretch>
              <a:fillRect t="-3809" b="-2297"/>
            </a:stretch>
          </a:blipFill>
        </p:spPr>
        <p:txBody>
          <a:bodyPr/>
          <a:lstStyle/>
          <a:p>
            <a:endParaRPr lang="en-ZA"/>
          </a:p>
        </p:txBody>
      </p:sp>
      <p:sp>
        <p:nvSpPr>
          <p:cNvPr id="8" name="TextBox 8"/>
          <p:cNvSpPr txBox="1"/>
          <p:nvPr/>
        </p:nvSpPr>
        <p:spPr>
          <a:xfrm>
            <a:off x="15468600" y="9306470"/>
            <a:ext cx="2331169"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9" name="TextBox 9"/>
          <p:cNvSpPr txBox="1"/>
          <p:nvPr/>
        </p:nvSpPr>
        <p:spPr>
          <a:xfrm>
            <a:off x="6728153" y="570604"/>
            <a:ext cx="5449625" cy="756617"/>
          </a:xfrm>
          <a:prstGeom prst="rect">
            <a:avLst/>
          </a:prstGeom>
        </p:spPr>
        <p:txBody>
          <a:bodyPr wrap="square"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10" name="TextBox 10"/>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1" name="TextBox 11"/>
          <p:cNvSpPr txBox="1"/>
          <p:nvPr/>
        </p:nvSpPr>
        <p:spPr>
          <a:xfrm>
            <a:off x="1775626" y="7067619"/>
            <a:ext cx="16512374" cy="1796930"/>
          </a:xfrm>
          <a:prstGeom prst="rect">
            <a:avLst/>
          </a:prstGeom>
        </p:spPr>
        <p:txBody>
          <a:bodyPr lIns="0" tIns="0" rIns="0" bIns="0" rtlCol="0" anchor="t">
            <a:spAutoFit/>
          </a:bodyPr>
          <a:lstStyle/>
          <a:p>
            <a:pPr marL="432821" lvl="1" indent="-216410" algn="l">
              <a:lnSpc>
                <a:spcPts val="2806"/>
              </a:lnSpc>
              <a:buFont typeface="Arial"/>
              <a:buChar char="•"/>
            </a:pPr>
            <a:r>
              <a:rPr lang="en-US" sz="2004">
                <a:solidFill>
                  <a:srgbClr val="000000"/>
                </a:solidFill>
                <a:latin typeface="Times New Roman MT"/>
                <a:ea typeface="Times New Roman MT"/>
                <a:cs typeface="Times New Roman MT"/>
                <a:sym typeface="Times New Roman MT"/>
              </a:rPr>
              <a:t>Lower Manhattan contributes ~62,55% of the revenue to the overall 55,56% in the morning.</a:t>
            </a:r>
          </a:p>
          <a:p>
            <a:pPr marL="432821" lvl="1" indent="-216410" algn="l">
              <a:lnSpc>
                <a:spcPts val="2806"/>
              </a:lnSpc>
              <a:buFont typeface="Arial"/>
              <a:buChar char="•"/>
            </a:pPr>
            <a:r>
              <a:rPr lang="en-US" sz="2004">
                <a:solidFill>
                  <a:srgbClr val="000000"/>
                </a:solidFill>
                <a:latin typeface="Times New Roman MT"/>
                <a:ea typeface="Times New Roman MT"/>
                <a:cs typeface="Times New Roman MT"/>
                <a:sym typeface="Times New Roman MT"/>
              </a:rPr>
              <a:t>Hell’s Kitchen contributes ~58,96% of the revenue to the overall 55,56% in the morning.</a:t>
            </a:r>
          </a:p>
          <a:p>
            <a:pPr marL="432821" lvl="1" indent="-216410" algn="l">
              <a:lnSpc>
                <a:spcPts val="2806"/>
              </a:lnSpc>
              <a:buFont typeface="Arial"/>
              <a:buChar char="•"/>
            </a:pPr>
            <a:r>
              <a:rPr lang="en-US" sz="2004">
                <a:solidFill>
                  <a:srgbClr val="000000"/>
                </a:solidFill>
                <a:latin typeface="Times New Roman MT"/>
                <a:ea typeface="Times New Roman MT"/>
                <a:cs typeface="Times New Roman MT"/>
                <a:sym typeface="Times New Roman MT"/>
              </a:rPr>
              <a:t>Astroria crontibutes ~45,19% of the revenue to the overall 55,56% in the morning.</a:t>
            </a:r>
          </a:p>
          <a:p>
            <a:pPr marL="432821" lvl="1" indent="-216410" algn="l">
              <a:lnSpc>
                <a:spcPts val="2806"/>
              </a:lnSpc>
              <a:buFont typeface="Arial"/>
              <a:buChar char="•"/>
            </a:pPr>
            <a:r>
              <a:rPr lang="en-US" sz="2004">
                <a:solidFill>
                  <a:srgbClr val="000000"/>
                </a:solidFill>
                <a:latin typeface="Times New Roman MT"/>
                <a:ea typeface="Times New Roman MT"/>
                <a:cs typeface="Times New Roman MT"/>
                <a:sym typeface="Times New Roman MT"/>
              </a:rPr>
              <a:t>In the evening Astoria performs the best, contributing ~20,98%  than hell’s kitchen which contributes ~16,09% and Lower Manhattan which contributes ~8,26% as the worst performing store in the evening.</a:t>
            </a:r>
          </a:p>
        </p:txBody>
      </p:sp>
      <p:sp>
        <p:nvSpPr>
          <p:cNvPr id="12" name="TextBox 12"/>
          <p:cNvSpPr txBox="1"/>
          <p:nvPr/>
        </p:nvSpPr>
        <p:spPr>
          <a:xfrm>
            <a:off x="6019800" y="1695638"/>
            <a:ext cx="6528784"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Store Performance &amp; Time Segments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514231" y="1119798"/>
            <a:ext cx="2681025" cy="164213"/>
          </a:xfrm>
          <a:custGeom>
            <a:avLst/>
            <a:gdLst/>
            <a:ahLst/>
            <a:cxnLst/>
            <a:rect l="l" t="t" r="r" b="b"/>
            <a:pathLst>
              <a:path w="2681025" h="164213">
                <a:moveTo>
                  <a:pt x="0" y="0"/>
                </a:moveTo>
                <a:lnTo>
                  <a:pt x="2681025" y="0"/>
                </a:lnTo>
                <a:lnTo>
                  <a:pt x="2681025"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8443778" y="2293658"/>
            <a:ext cx="8374317" cy="4710161"/>
          </a:xfrm>
          <a:custGeom>
            <a:avLst/>
            <a:gdLst/>
            <a:ahLst/>
            <a:cxnLst/>
            <a:rect l="l" t="t" r="r" b="b"/>
            <a:pathLst>
              <a:path w="8374317" h="4710161">
                <a:moveTo>
                  <a:pt x="0" y="0"/>
                </a:moveTo>
                <a:lnTo>
                  <a:pt x="8374317" y="0"/>
                </a:lnTo>
                <a:lnTo>
                  <a:pt x="8374317" y="4710161"/>
                </a:lnTo>
                <a:lnTo>
                  <a:pt x="0" y="4710161"/>
                </a:lnTo>
                <a:lnTo>
                  <a:pt x="0" y="0"/>
                </a:lnTo>
                <a:close/>
              </a:path>
            </a:pathLst>
          </a:custGeom>
          <a:blipFill>
            <a:blip r:embed="rId5"/>
            <a:stretch>
              <a:fillRect l="-2443" r="-2443"/>
            </a:stretch>
          </a:blipFill>
        </p:spPr>
        <p:txBody>
          <a:bodyPr/>
          <a:lstStyle/>
          <a:p>
            <a:endParaRPr lang="en-ZA"/>
          </a:p>
        </p:txBody>
      </p:sp>
      <p:sp>
        <p:nvSpPr>
          <p:cNvPr id="6" name="Freeform 6"/>
          <p:cNvSpPr/>
          <p:nvPr/>
        </p:nvSpPr>
        <p:spPr>
          <a:xfrm>
            <a:off x="1028700" y="2293658"/>
            <a:ext cx="7331061" cy="4730659"/>
          </a:xfrm>
          <a:custGeom>
            <a:avLst/>
            <a:gdLst/>
            <a:ahLst/>
            <a:cxnLst/>
            <a:rect l="l" t="t" r="r" b="b"/>
            <a:pathLst>
              <a:path w="7331061" h="4730659">
                <a:moveTo>
                  <a:pt x="0" y="0"/>
                </a:moveTo>
                <a:lnTo>
                  <a:pt x="7331061" y="0"/>
                </a:lnTo>
                <a:lnTo>
                  <a:pt x="7331061" y="4730659"/>
                </a:lnTo>
                <a:lnTo>
                  <a:pt x="0" y="4730659"/>
                </a:lnTo>
                <a:lnTo>
                  <a:pt x="0" y="0"/>
                </a:lnTo>
                <a:close/>
              </a:path>
            </a:pathLst>
          </a:custGeom>
          <a:blipFill>
            <a:blip r:embed="rId6"/>
            <a:stretch>
              <a:fillRect l="-4821" r="-4821"/>
            </a:stretch>
          </a:blipFill>
        </p:spPr>
        <p:txBody>
          <a:bodyPr/>
          <a:lstStyle/>
          <a:p>
            <a:endParaRPr lang="en-ZA"/>
          </a:p>
        </p:txBody>
      </p:sp>
      <p:sp>
        <p:nvSpPr>
          <p:cNvPr id="7" name="TextBox 7"/>
          <p:cNvSpPr txBox="1"/>
          <p:nvPr/>
        </p:nvSpPr>
        <p:spPr>
          <a:xfrm>
            <a:off x="15614423" y="9524807"/>
            <a:ext cx="2407344"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8" name="TextBox 8"/>
          <p:cNvSpPr txBox="1"/>
          <p:nvPr/>
        </p:nvSpPr>
        <p:spPr>
          <a:xfrm>
            <a:off x="6338502" y="507587"/>
            <a:ext cx="5610995" cy="756617"/>
          </a:xfrm>
          <a:prstGeom prst="rect">
            <a:avLst/>
          </a:prstGeom>
        </p:spPr>
        <p:txBody>
          <a:bodyPr wrap="square"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9" name="TextBox 9"/>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0" name="TextBox 10"/>
          <p:cNvSpPr txBox="1"/>
          <p:nvPr/>
        </p:nvSpPr>
        <p:spPr>
          <a:xfrm>
            <a:off x="5715000" y="1436411"/>
            <a:ext cx="6416040"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Store Performance &amp; Time Segments</a:t>
            </a:r>
          </a:p>
        </p:txBody>
      </p:sp>
      <p:sp>
        <p:nvSpPr>
          <p:cNvPr id="11" name="TextBox 11"/>
          <p:cNvSpPr txBox="1"/>
          <p:nvPr/>
        </p:nvSpPr>
        <p:spPr>
          <a:xfrm>
            <a:off x="1039108" y="7095260"/>
            <a:ext cx="15125105" cy="1444622"/>
          </a:xfrm>
          <a:prstGeom prst="rect">
            <a:avLst/>
          </a:prstGeom>
        </p:spPr>
        <p:txBody>
          <a:bodyPr lIns="0" tIns="0" rIns="0" bIns="0" rtlCol="0" anchor="t">
            <a:spAutoFit/>
          </a:bodyPr>
          <a:lstStyle/>
          <a:p>
            <a:pPr marL="431828" lvl="1" indent="-215914" algn="l">
              <a:lnSpc>
                <a:spcPts val="2800"/>
              </a:lnSpc>
              <a:buFont typeface="Arial"/>
              <a:buChar char="•"/>
            </a:pPr>
            <a:r>
              <a:rPr lang="en-US" sz="2000">
                <a:solidFill>
                  <a:srgbClr val="000000"/>
                </a:solidFill>
                <a:latin typeface="Times New Roman MT"/>
                <a:ea typeface="Times New Roman MT"/>
                <a:cs typeface="Times New Roman MT"/>
                <a:sym typeface="Times New Roman MT"/>
              </a:rPr>
              <a:t>Hell’s Kitchen contributes the highest revenue by ~33,84%  followed clossely by Astoria which contributes 33,23% </a:t>
            </a:r>
          </a:p>
          <a:p>
            <a:pPr marL="431828" lvl="1" indent="-215914" algn="l">
              <a:lnSpc>
                <a:spcPts val="2800"/>
              </a:lnSpc>
              <a:buFont typeface="Arial"/>
              <a:buChar char="•"/>
            </a:pPr>
            <a:r>
              <a:rPr lang="en-US" sz="2000">
                <a:solidFill>
                  <a:srgbClr val="000000"/>
                </a:solidFill>
                <a:latin typeface="Times New Roman MT"/>
                <a:ea typeface="Times New Roman MT"/>
                <a:cs typeface="Times New Roman MT"/>
                <a:sym typeface="Times New Roman MT"/>
              </a:rPr>
              <a:t>Lower Manhattan contributes the least to overall Revenu by 32,92%</a:t>
            </a:r>
          </a:p>
          <a:p>
            <a:pPr marL="431828" lvl="1" indent="-215914" algn="l">
              <a:lnSpc>
                <a:spcPts val="2800"/>
              </a:lnSpc>
              <a:buFont typeface="Arial"/>
              <a:buChar char="•"/>
            </a:pPr>
            <a:r>
              <a:rPr lang="en-US" sz="2000">
                <a:solidFill>
                  <a:srgbClr val="000000"/>
                </a:solidFill>
                <a:latin typeface="Times New Roman MT"/>
                <a:ea typeface="Times New Roman MT"/>
                <a:cs typeface="Times New Roman MT"/>
                <a:sym typeface="Times New Roman MT"/>
              </a:rPr>
              <a:t>Hell’s Kitchen shows the highest revenue per month, particularly in winter  (May and June) where there is high demand of hot beverages.</a:t>
            </a:r>
          </a:p>
          <a:p>
            <a:pPr marL="431828" lvl="1" indent="-215914" algn="l">
              <a:lnSpc>
                <a:spcPts val="2800"/>
              </a:lnSpc>
              <a:buFont typeface="Arial"/>
              <a:buChar char="•"/>
            </a:pPr>
            <a:r>
              <a:rPr lang="en-US" sz="2000">
                <a:solidFill>
                  <a:srgbClr val="000000"/>
                </a:solidFill>
                <a:latin typeface="Times New Roman MT"/>
                <a:ea typeface="Times New Roman MT"/>
                <a:cs typeface="Times New Roman MT"/>
                <a:sym typeface="Times New Roman MT"/>
              </a:rPr>
              <a:t>Lowere Manhattan shows the weakest revenue pe month. not even a single month it was the best performing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337193" y="1710130"/>
            <a:ext cx="2681025" cy="164213"/>
          </a:xfrm>
          <a:custGeom>
            <a:avLst/>
            <a:gdLst/>
            <a:ahLst/>
            <a:cxnLst/>
            <a:rect l="l" t="t" r="r" b="b"/>
            <a:pathLst>
              <a:path w="2681025" h="164213">
                <a:moveTo>
                  <a:pt x="0" y="0"/>
                </a:moveTo>
                <a:lnTo>
                  <a:pt x="2681025" y="0"/>
                </a:lnTo>
                <a:lnTo>
                  <a:pt x="2681025"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429066" y="2637065"/>
            <a:ext cx="7752812" cy="3915170"/>
          </a:xfrm>
          <a:custGeom>
            <a:avLst/>
            <a:gdLst/>
            <a:ahLst/>
            <a:cxnLst/>
            <a:rect l="l" t="t" r="r" b="b"/>
            <a:pathLst>
              <a:path w="7752812" h="3915170">
                <a:moveTo>
                  <a:pt x="0" y="0"/>
                </a:moveTo>
                <a:lnTo>
                  <a:pt x="7752812" y="0"/>
                </a:lnTo>
                <a:lnTo>
                  <a:pt x="7752812" y="3915170"/>
                </a:lnTo>
                <a:lnTo>
                  <a:pt x="0" y="3915170"/>
                </a:lnTo>
                <a:lnTo>
                  <a:pt x="0" y="0"/>
                </a:lnTo>
                <a:close/>
              </a:path>
            </a:pathLst>
          </a:custGeom>
          <a:blipFill>
            <a:blip r:embed="rId5"/>
            <a:stretch>
              <a:fillRect/>
            </a:stretch>
          </a:blipFill>
        </p:spPr>
        <p:txBody>
          <a:bodyPr/>
          <a:lstStyle/>
          <a:p>
            <a:endParaRPr lang="en-ZA"/>
          </a:p>
        </p:txBody>
      </p:sp>
      <p:sp>
        <p:nvSpPr>
          <p:cNvPr id="6" name="Freeform 6"/>
          <p:cNvSpPr/>
          <p:nvPr/>
        </p:nvSpPr>
        <p:spPr>
          <a:xfrm>
            <a:off x="8602222" y="2637065"/>
            <a:ext cx="7583865" cy="3915170"/>
          </a:xfrm>
          <a:custGeom>
            <a:avLst/>
            <a:gdLst/>
            <a:ahLst/>
            <a:cxnLst/>
            <a:rect l="l" t="t" r="r" b="b"/>
            <a:pathLst>
              <a:path w="7583865" h="3915170">
                <a:moveTo>
                  <a:pt x="0" y="0"/>
                </a:moveTo>
                <a:lnTo>
                  <a:pt x="7583864" y="0"/>
                </a:lnTo>
                <a:lnTo>
                  <a:pt x="7583864" y="3915170"/>
                </a:lnTo>
                <a:lnTo>
                  <a:pt x="0" y="3915170"/>
                </a:lnTo>
                <a:lnTo>
                  <a:pt x="0" y="0"/>
                </a:lnTo>
                <a:close/>
              </a:path>
            </a:pathLst>
          </a:custGeom>
          <a:blipFill>
            <a:blip r:embed="rId6"/>
            <a:stretch>
              <a:fillRect/>
            </a:stretch>
          </a:blipFill>
        </p:spPr>
        <p:txBody>
          <a:bodyPr/>
          <a:lstStyle/>
          <a:p>
            <a:endParaRPr lang="en-ZA"/>
          </a:p>
        </p:txBody>
      </p:sp>
      <p:sp>
        <p:nvSpPr>
          <p:cNvPr id="7" name="TextBox 7"/>
          <p:cNvSpPr txBox="1"/>
          <p:nvPr/>
        </p:nvSpPr>
        <p:spPr>
          <a:xfrm>
            <a:off x="15544800" y="9334500"/>
            <a:ext cx="2402681"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8" name="TextBox 8"/>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9" name="TextBox 9"/>
          <p:cNvSpPr txBox="1"/>
          <p:nvPr/>
        </p:nvSpPr>
        <p:spPr>
          <a:xfrm>
            <a:off x="6172200" y="1035619"/>
            <a:ext cx="5280643" cy="756617"/>
          </a:xfrm>
          <a:prstGeom prst="rect">
            <a:avLst/>
          </a:prstGeom>
        </p:spPr>
        <p:txBody>
          <a:bodyPr wrap="square"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10" name="TextBox 10"/>
          <p:cNvSpPr txBox="1"/>
          <p:nvPr/>
        </p:nvSpPr>
        <p:spPr>
          <a:xfrm>
            <a:off x="5410200" y="2056043"/>
            <a:ext cx="6402172"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Store Performance &amp; Time Segments</a:t>
            </a:r>
          </a:p>
        </p:txBody>
      </p:sp>
      <p:sp>
        <p:nvSpPr>
          <p:cNvPr id="11" name="TextBox 11"/>
          <p:cNvSpPr txBox="1"/>
          <p:nvPr/>
        </p:nvSpPr>
        <p:spPr>
          <a:xfrm>
            <a:off x="429066" y="6980860"/>
            <a:ext cx="14272979" cy="2149475"/>
          </a:xfrm>
          <a:prstGeom prst="rect">
            <a:avLst/>
          </a:prstGeom>
        </p:spPr>
        <p:txBody>
          <a:bodyPr lIns="0" tIns="0" rIns="0" bIns="0" rtlCol="0" anchor="t">
            <a:spAutoFit/>
          </a:bodyPr>
          <a:lstStyle/>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Coffee is the highest revenue generator across all locations and operating hours, significantly outperforming other categories.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Tea and Bakery items contribute notable revenue, though much less than coffee across all locations and operating hours.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Items category like Loose Tea, Packaged Chocolate, and Drinking Chocolate show minimal revenue across all stores.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Afternoon shows a decrease in Coffee sales but maintains steady interest in Tea and Coffee Beans.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 Evening is generally the lowest revenue period across most categories.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Packaged chocolate category contributes no revenue in the afternoon or evening.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514231" y="1264729"/>
            <a:ext cx="2681025" cy="164213"/>
          </a:xfrm>
          <a:custGeom>
            <a:avLst/>
            <a:gdLst/>
            <a:ahLst/>
            <a:cxnLst/>
            <a:rect l="l" t="t" r="r" b="b"/>
            <a:pathLst>
              <a:path w="2681025" h="164213">
                <a:moveTo>
                  <a:pt x="0" y="0"/>
                </a:moveTo>
                <a:lnTo>
                  <a:pt x="2681025" y="0"/>
                </a:lnTo>
                <a:lnTo>
                  <a:pt x="2681025" y="164212"/>
                </a:lnTo>
                <a:lnTo>
                  <a:pt x="0" y="1642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607403" y="6080214"/>
            <a:ext cx="5620445" cy="3230269"/>
          </a:xfrm>
          <a:custGeom>
            <a:avLst/>
            <a:gdLst/>
            <a:ahLst/>
            <a:cxnLst/>
            <a:rect l="l" t="t" r="r" b="b"/>
            <a:pathLst>
              <a:path w="5620445" h="3230269">
                <a:moveTo>
                  <a:pt x="0" y="0"/>
                </a:moveTo>
                <a:lnTo>
                  <a:pt x="5620445" y="0"/>
                </a:lnTo>
                <a:lnTo>
                  <a:pt x="5620445" y="3230269"/>
                </a:lnTo>
                <a:lnTo>
                  <a:pt x="0" y="3230269"/>
                </a:lnTo>
                <a:lnTo>
                  <a:pt x="0" y="0"/>
                </a:lnTo>
                <a:close/>
              </a:path>
            </a:pathLst>
          </a:custGeom>
          <a:blipFill>
            <a:blip r:embed="rId5"/>
            <a:stretch>
              <a:fillRect t="-2290" b="-2290"/>
            </a:stretch>
          </a:blipFill>
        </p:spPr>
        <p:txBody>
          <a:bodyPr/>
          <a:lstStyle/>
          <a:p>
            <a:endParaRPr lang="en-ZA"/>
          </a:p>
        </p:txBody>
      </p:sp>
      <p:sp>
        <p:nvSpPr>
          <p:cNvPr id="6" name="Freeform 6"/>
          <p:cNvSpPr/>
          <p:nvPr/>
        </p:nvSpPr>
        <p:spPr>
          <a:xfrm>
            <a:off x="6227848" y="6080214"/>
            <a:ext cx="5730130" cy="3259012"/>
          </a:xfrm>
          <a:custGeom>
            <a:avLst/>
            <a:gdLst/>
            <a:ahLst/>
            <a:cxnLst/>
            <a:rect l="l" t="t" r="r" b="b"/>
            <a:pathLst>
              <a:path w="5730130" h="3259012">
                <a:moveTo>
                  <a:pt x="0" y="0"/>
                </a:moveTo>
                <a:lnTo>
                  <a:pt x="5730130" y="0"/>
                </a:lnTo>
                <a:lnTo>
                  <a:pt x="5730130" y="3259011"/>
                </a:lnTo>
                <a:lnTo>
                  <a:pt x="0" y="3259011"/>
                </a:lnTo>
                <a:lnTo>
                  <a:pt x="0" y="0"/>
                </a:lnTo>
                <a:close/>
              </a:path>
            </a:pathLst>
          </a:custGeom>
          <a:blipFill>
            <a:blip r:embed="rId6"/>
            <a:stretch>
              <a:fillRect/>
            </a:stretch>
          </a:blipFill>
        </p:spPr>
        <p:txBody>
          <a:bodyPr/>
          <a:lstStyle/>
          <a:p>
            <a:endParaRPr lang="en-ZA"/>
          </a:p>
        </p:txBody>
      </p:sp>
      <p:sp>
        <p:nvSpPr>
          <p:cNvPr id="7" name="Freeform 7"/>
          <p:cNvSpPr/>
          <p:nvPr/>
        </p:nvSpPr>
        <p:spPr>
          <a:xfrm>
            <a:off x="6227848" y="2251986"/>
            <a:ext cx="5633490" cy="3337843"/>
          </a:xfrm>
          <a:custGeom>
            <a:avLst/>
            <a:gdLst/>
            <a:ahLst/>
            <a:cxnLst/>
            <a:rect l="l" t="t" r="r" b="b"/>
            <a:pathLst>
              <a:path w="5633490" h="3337843">
                <a:moveTo>
                  <a:pt x="0" y="0"/>
                </a:moveTo>
                <a:lnTo>
                  <a:pt x="5633490" y="0"/>
                </a:lnTo>
                <a:lnTo>
                  <a:pt x="5633490" y="3337843"/>
                </a:lnTo>
                <a:lnTo>
                  <a:pt x="0" y="3337843"/>
                </a:lnTo>
                <a:lnTo>
                  <a:pt x="0" y="0"/>
                </a:lnTo>
                <a:close/>
              </a:path>
            </a:pathLst>
          </a:custGeom>
          <a:blipFill>
            <a:blip r:embed="rId7"/>
            <a:stretch>
              <a:fillRect/>
            </a:stretch>
          </a:blipFill>
        </p:spPr>
        <p:txBody>
          <a:bodyPr/>
          <a:lstStyle/>
          <a:p>
            <a:endParaRPr lang="en-ZA"/>
          </a:p>
        </p:txBody>
      </p:sp>
      <p:sp>
        <p:nvSpPr>
          <p:cNvPr id="8" name="Freeform 8"/>
          <p:cNvSpPr/>
          <p:nvPr/>
        </p:nvSpPr>
        <p:spPr>
          <a:xfrm>
            <a:off x="607403" y="2202587"/>
            <a:ext cx="5620445" cy="3387242"/>
          </a:xfrm>
          <a:custGeom>
            <a:avLst/>
            <a:gdLst/>
            <a:ahLst/>
            <a:cxnLst/>
            <a:rect l="l" t="t" r="r" b="b"/>
            <a:pathLst>
              <a:path w="5620445" h="3387242">
                <a:moveTo>
                  <a:pt x="0" y="0"/>
                </a:moveTo>
                <a:lnTo>
                  <a:pt x="5620445" y="0"/>
                </a:lnTo>
                <a:lnTo>
                  <a:pt x="5620445" y="3387242"/>
                </a:lnTo>
                <a:lnTo>
                  <a:pt x="0" y="3387242"/>
                </a:lnTo>
                <a:lnTo>
                  <a:pt x="0" y="0"/>
                </a:lnTo>
                <a:close/>
              </a:path>
            </a:pathLst>
          </a:custGeom>
          <a:blipFill>
            <a:blip r:embed="rId8"/>
            <a:stretch>
              <a:fillRect l="-5136" t="-1822" b="-1822"/>
            </a:stretch>
          </a:blipFill>
        </p:spPr>
        <p:txBody>
          <a:bodyPr/>
          <a:lstStyle/>
          <a:p>
            <a:endParaRPr lang="en-ZA"/>
          </a:p>
        </p:txBody>
      </p:sp>
      <p:sp>
        <p:nvSpPr>
          <p:cNvPr id="9" name="TextBox 9"/>
          <p:cNvSpPr txBox="1"/>
          <p:nvPr/>
        </p:nvSpPr>
        <p:spPr>
          <a:xfrm>
            <a:off x="14782801" y="9191625"/>
            <a:ext cx="2696752"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10" name="TextBox 10"/>
          <p:cNvSpPr txBox="1"/>
          <p:nvPr/>
        </p:nvSpPr>
        <p:spPr>
          <a:xfrm>
            <a:off x="6327255" y="672325"/>
            <a:ext cx="5633490" cy="756617"/>
          </a:xfrm>
          <a:prstGeom prst="rect">
            <a:avLst/>
          </a:prstGeom>
        </p:spPr>
        <p:txBody>
          <a:bodyPr wrap="square"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11" name="TextBox 11"/>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2" name="TextBox 12"/>
          <p:cNvSpPr txBox="1"/>
          <p:nvPr/>
        </p:nvSpPr>
        <p:spPr>
          <a:xfrm>
            <a:off x="5257800" y="1420673"/>
            <a:ext cx="6930123" cy="512833"/>
          </a:xfrm>
          <a:prstGeom prst="rect">
            <a:avLst/>
          </a:prstGeom>
        </p:spPr>
        <p:txBody>
          <a:bodyPr wrap="square"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Product Performance &amp; Time Segments</a:t>
            </a:r>
          </a:p>
        </p:txBody>
      </p:sp>
      <p:sp>
        <p:nvSpPr>
          <p:cNvPr id="13" name="TextBox 13"/>
          <p:cNvSpPr txBox="1"/>
          <p:nvPr/>
        </p:nvSpPr>
        <p:spPr>
          <a:xfrm>
            <a:off x="12187924" y="2166261"/>
            <a:ext cx="6100076" cy="6378575"/>
          </a:xfrm>
          <a:prstGeom prst="rect">
            <a:avLst/>
          </a:prstGeom>
        </p:spPr>
        <p:txBody>
          <a:bodyPr lIns="0" tIns="0" rIns="0" bIns="0" rtlCol="0" anchor="t">
            <a:spAutoFit/>
          </a:bodyPr>
          <a:lstStyle/>
          <a:p>
            <a:pPr algn="l">
              <a:lnSpc>
                <a:spcPts val="2800"/>
              </a:lnSpc>
            </a:pPr>
            <a:r>
              <a:rPr lang="en-US" sz="2000">
                <a:solidFill>
                  <a:srgbClr val="000000"/>
                </a:solidFill>
                <a:latin typeface="Times New Roman MT"/>
                <a:ea typeface="Times New Roman MT"/>
                <a:cs typeface="Times New Roman MT"/>
                <a:sym typeface="Times New Roman MT"/>
              </a:rPr>
              <a:t>Lowest Performing Products</a:t>
            </a:r>
          </a:p>
          <a:p>
            <a:pPr algn="l">
              <a:lnSpc>
                <a:spcPts val="2800"/>
              </a:lnSpc>
            </a:pPr>
            <a:endParaRPr lang="en-US" sz="2000">
              <a:solidFill>
                <a:srgbClr val="000000"/>
              </a:solidFill>
              <a:latin typeface="Times New Roman MT"/>
              <a:ea typeface="Times New Roman MT"/>
              <a:cs typeface="Times New Roman MT"/>
              <a:sym typeface="Times New Roman MT"/>
            </a:endParaRP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Barista Espresso is the top-performing product, accounting for 16.57% of the distribution among the top 10 products. </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Following Barista Espresso, the next highest performers are Hot Chocolate (13.97%) and Gourmet Brewed Coffee (13.12%).</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Barista Espresso maintains high revenue (ZAR) across operating periods, peaking at over R40,000 in the morning. </a:t>
            </a:r>
          </a:p>
          <a:p>
            <a:pPr algn="l">
              <a:lnSpc>
                <a:spcPts val="2800"/>
              </a:lnSpc>
            </a:pPr>
            <a:endParaRPr lang="en-US" sz="2000">
              <a:solidFill>
                <a:srgbClr val="000000"/>
              </a:solidFill>
              <a:latin typeface="Times New Roman MT"/>
              <a:ea typeface="Times New Roman MT"/>
              <a:cs typeface="Times New Roman MT"/>
              <a:sym typeface="Times New Roman MT"/>
            </a:endParaRPr>
          </a:p>
          <a:p>
            <a:pPr algn="l">
              <a:lnSpc>
                <a:spcPts val="2800"/>
              </a:lnSpc>
            </a:pPr>
            <a:r>
              <a:rPr lang="en-US" sz="2000">
                <a:solidFill>
                  <a:srgbClr val="000000"/>
                </a:solidFill>
                <a:latin typeface="Times New Roman MT"/>
                <a:ea typeface="Times New Roman MT"/>
                <a:cs typeface="Times New Roman MT"/>
                <a:sym typeface="Times New Roman MT"/>
              </a:rPr>
              <a:t>Lowest Performing Products</a:t>
            </a:r>
          </a:p>
          <a:p>
            <a:pPr algn="ctr">
              <a:lnSpc>
                <a:spcPts val="2800"/>
              </a:lnSpc>
            </a:pPr>
            <a:endParaRPr lang="en-US" sz="2000">
              <a:solidFill>
                <a:srgbClr val="000000"/>
              </a:solidFill>
              <a:latin typeface="Times New Roman MT"/>
              <a:ea typeface="Times New Roman MT"/>
              <a:cs typeface="Times New Roman MT"/>
              <a:sym typeface="Times New Roman MT"/>
            </a:endParaRP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The pie chart identifies green beans (4,76%) and green tea (5.23%) among the least performing items.</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 </a:t>
            </a:r>
          </a:p>
          <a:p>
            <a:pPr algn="ctr">
              <a:lnSpc>
                <a:spcPts val="2800"/>
              </a:lnSpc>
              <a:spcBef>
                <a:spcPct val="0"/>
              </a:spcBef>
            </a:pPr>
            <a:endParaRPr lang="en-US" sz="2000">
              <a:solidFill>
                <a:srgbClr val="000000"/>
              </a:solidFill>
              <a:latin typeface="Times New Roman MT"/>
              <a:ea typeface="Times New Roman MT"/>
              <a:cs typeface="Times New Roman MT"/>
              <a:sym typeface="Times New Roman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6984870" y="1040747"/>
            <a:ext cx="4318260" cy="264493"/>
          </a:xfrm>
          <a:custGeom>
            <a:avLst/>
            <a:gdLst/>
            <a:ahLst/>
            <a:cxnLst/>
            <a:rect l="l" t="t" r="r" b="b"/>
            <a:pathLst>
              <a:path w="4318260" h="264493">
                <a:moveTo>
                  <a:pt x="0" y="0"/>
                </a:moveTo>
                <a:lnTo>
                  <a:pt x="4318260" y="0"/>
                </a:lnTo>
                <a:lnTo>
                  <a:pt x="4318260" y="264493"/>
                </a:lnTo>
                <a:lnTo>
                  <a:pt x="0" y="26449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607403" y="2005128"/>
            <a:ext cx="7479187" cy="4749284"/>
          </a:xfrm>
          <a:custGeom>
            <a:avLst/>
            <a:gdLst/>
            <a:ahLst/>
            <a:cxnLst/>
            <a:rect l="l" t="t" r="r" b="b"/>
            <a:pathLst>
              <a:path w="7479187" h="4749284">
                <a:moveTo>
                  <a:pt x="0" y="0"/>
                </a:moveTo>
                <a:lnTo>
                  <a:pt x="7479187" y="0"/>
                </a:lnTo>
                <a:lnTo>
                  <a:pt x="7479187" y="4749284"/>
                </a:lnTo>
                <a:lnTo>
                  <a:pt x="0" y="4749284"/>
                </a:lnTo>
                <a:lnTo>
                  <a:pt x="0" y="0"/>
                </a:lnTo>
                <a:close/>
              </a:path>
            </a:pathLst>
          </a:custGeom>
          <a:blipFill>
            <a:blip r:embed="rId5"/>
            <a:stretch>
              <a:fillRect/>
            </a:stretch>
          </a:blipFill>
        </p:spPr>
        <p:txBody>
          <a:bodyPr/>
          <a:lstStyle/>
          <a:p>
            <a:endParaRPr lang="en-ZA"/>
          </a:p>
        </p:txBody>
      </p:sp>
      <p:sp>
        <p:nvSpPr>
          <p:cNvPr id="6" name="Freeform 6"/>
          <p:cNvSpPr/>
          <p:nvPr/>
        </p:nvSpPr>
        <p:spPr>
          <a:xfrm>
            <a:off x="8086590" y="2005128"/>
            <a:ext cx="7890146" cy="4742481"/>
          </a:xfrm>
          <a:custGeom>
            <a:avLst/>
            <a:gdLst/>
            <a:ahLst/>
            <a:cxnLst/>
            <a:rect l="l" t="t" r="r" b="b"/>
            <a:pathLst>
              <a:path w="7890146" h="4742481">
                <a:moveTo>
                  <a:pt x="0" y="0"/>
                </a:moveTo>
                <a:lnTo>
                  <a:pt x="7890146" y="0"/>
                </a:lnTo>
                <a:lnTo>
                  <a:pt x="7890146" y="4742482"/>
                </a:lnTo>
                <a:lnTo>
                  <a:pt x="0" y="4742482"/>
                </a:lnTo>
                <a:lnTo>
                  <a:pt x="0" y="0"/>
                </a:lnTo>
                <a:close/>
              </a:path>
            </a:pathLst>
          </a:custGeom>
          <a:blipFill>
            <a:blip r:embed="rId6"/>
            <a:stretch>
              <a:fillRect/>
            </a:stretch>
          </a:blipFill>
        </p:spPr>
        <p:txBody>
          <a:bodyPr/>
          <a:lstStyle/>
          <a:p>
            <a:endParaRPr lang="en-ZA"/>
          </a:p>
        </p:txBody>
      </p:sp>
      <p:sp>
        <p:nvSpPr>
          <p:cNvPr id="7" name="TextBox 7"/>
          <p:cNvSpPr txBox="1"/>
          <p:nvPr/>
        </p:nvSpPr>
        <p:spPr>
          <a:xfrm>
            <a:off x="15273722" y="9291193"/>
            <a:ext cx="2987239"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8" name="TextBox 8"/>
          <p:cNvSpPr txBox="1"/>
          <p:nvPr/>
        </p:nvSpPr>
        <p:spPr>
          <a:xfrm>
            <a:off x="6584743" y="374799"/>
            <a:ext cx="5855210" cy="756617"/>
          </a:xfrm>
          <a:prstGeom prst="rect">
            <a:avLst/>
          </a:prstGeom>
        </p:spPr>
        <p:txBody>
          <a:bodyPr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and Findings</a:t>
            </a:r>
          </a:p>
        </p:txBody>
      </p:sp>
      <p:sp>
        <p:nvSpPr>
          <p:cNvPr id="9" name="TextBox 9"/>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0" name="TextBox 10"/>
          <p:cNvSpPr txBox="1"/>
          <p:nvPr/>
        </p:nvSpPr>
        <p:spPr>
          <a:xfrm>
            <a:off x="607403" y="6686221"/>
            <a:ext cx="15293355" cy="3143581"/>
          </a:xfrm>
          <a:prstGeom prst="rect">
            <a:avLst/>
          </a:prstGeom>
        </p:spPr>
        <p:txBody>
          <a:bodyPr lIns="0" tIns="0" rIns="0" bIns="0" rtlCol="0" anchor="t">
            <a:spAutoFit/>
          </a:bodyPr>
          <a:lstStyle/>
          <a:p>
            <a:pPr algn="ctr">
              <a:lnSpc>
                <a:spcPts val="2606"/>
              </a:lnSpc>
              <a:spcBef>
                <a:spcPct val="0"/>
              </a:spcBef>
            </a:pPr>
            <a:endParaRPr dirty="0"/>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Barista Espresso is the top revenue contributor across all three stores, with Hell’s kitchen showing the strongest performance for this item.</a:t>
            </a:r>
          </a:p>
          <a:p>
            <a:pPr marL="431801" lvl="1" indent="-215900" algn="l">
              <a:lnSpc>
                <a:spcPts val="2800"/>
              </a:lnSpc>
              <a:spcBef>
                <a:spcPct val="0"/>
              </a:spcBef>
              <a:buFont typeface="Arial"/>
              <a:buChar char="•"/>
            </a:pPr>
            <a:r>
              <a:rPr lang="en-US" sz="2000" dirty="0">
                <a:solidFill>
                  <a:srgbClr val="000000"/>
                </a:solidFill>
                <a:latin typeface="Times New Roman MT"/>
                <a:ea typeface="Times New Roman MT"/>
                <a:cs typeface="Times New Roman MT"/>
                <a:sym typeface="Times New Roman MT"/>
              </a:rPr>
              <a:t>Gourmet Brewed Coffee, and Hot Chocolate follow.</a:t>
            </a:r>
          </a:p>
          <a:p>
            <a:pPr marL="431801" lvl="1" indent="-215900" algn="l">
              <a:lnSpc>
                <a:spcPts val="2800"/>
              </a:lnSpc>
              <a:spcBef>
                <a:spcPct val="0"/>
              </a:spcBef>
              <a:buFont typeface="Arial"/>
              <a:buChar char="•"/>
            </a:pPr>
            <a:r>
              <a:rPr lang="en-US" sz="2000" dirty="0">
                <a:solidFill>
                  <a:srgbClr val="000000"/>
                </a:solidFill>
                <a:latin typeface="Times New Roman MT"/>
                <a:ea typeface="Times New Roman MT"/>
                <a:cs typeface="Times New Roman MT"/>
                <a:sym typeface="Times New Roman MT"/>
              </a:rPr>
              <a:t>Store Trend: Generally, Astoria leads in revenue for other products besides Barista Expresso, compared to the other two locations.</a:t>
            </a:r>
          </a:p>
          <a:p>
            <a:pPr algn="l">
              <a:lnSpc>
                <a:spcPts val="2800"/>
              </a:lnSpc>
              <a:spcBef>
                <a:spcPct val="0"/>
              </a:spcBef>
            </a:pPr>
            <a:endParaRPr lang="en-US" sz="2000" dirty="0">
              <a:solidFill>
                <a:srgbClr val="000000"/>
              </a:solidFill>
              <a:latin typeface="Times New Roman MT"/>
              <a:ea typeface="Times New Roman MT"/>
              <a:cs typeface="Times New Roman MT"/>
              <a:sym typeface="Times New Roman MT"/>
            </a:endParaRP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Green beans is worst performing product across all stores followed by green tea , where most of its revenue comes from Hell’s Kitchen suggesting these might be niche items or candidates for better promotion.</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Sugar-free Syrup is low overall; it has a significant spike in Lower Manhattan (green bar) compared to its performance elsewhere.</a:t>
            </a:r>
          </a:p>
          <a:p>
            <a:pPr algn="l">
              <a:lnSpc>
                <a:spcPts val="2606"/>
              </a:lnSpc>
            </a:pPr>
            <a:endParaRPr lang="en-US" sz="2000" dirty="0">
              <a:solidFill>
                <a:srgbClr val="000000"/>
              </a:solidFill>
              <a:latin typeface="Times New Roman MT"/>
              <a:ea typeface="Times New Roman MT"/>
              <a:cs typeface="Times New Roman MT"/>
              <a:sym typeface="Times New Roman MT"/>
            </a:endParaRPr>
          </a:p>
        </p:txBody>
      </p:sp>
      <p:sp>
        <p:nvSpPr>
          <p:cNvPr id="11" name="TextBox 11"/>
          <p:cNvSpPr txBox="1"/>
          <p:nvPr/>
        </p:nvSpPr>
        <p:spPr>
          <a:xfrm>
            <a:off x="5843321" y="1420673"/>
            <a:ext cx="6282690" cy="581022"/>
          </a:xfrm>
          <a:prstGeom prst="rect">
            <a:avLst/>
          </a:prstGeom>
        </p:spPr>
        <p:txBody>
          <a:bodyPr lIns="0" tIns="0" rIns="0" bIns="0" rtlCol="0" anchor="t">
            <a:spAutoFit/>
          </a:bodyPr>
          <a:lstStyle/>
          <a:p>
            <a:pPr algn="ctr">
              <a:lnSpc>
                <a:spcPts val="4200"/>
              </a:lnSpc>
              <a:spcBef>
                <a:spcPct val="0"/>
              </a:spcBef>
            </a:pPr>
            <a:r>
              <a:rPr lang="en-US" sz="3000">
                <a:solidFill>
                  <a:srgbClr val="683B1E"/>
                </a:solidFill>
                <a:latin typeface="Times New Roman MT"/>
                <a:ea typeface="Times New Roman MT"/>
                <a:cs typeface="Times New Roman MT"/>
                <a:sym typeface="Times New Roman MT"/>
              </a:rPr>
              <a:t>Product Perfomance &amp; Store Location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Freeform 4"/>
          <p:cNvSpPr/>
          <p:nvPr/>
        </p:nvSpPr>
        <p:spPr>
          <a:xfrm>
            <a:off x="7803487" y="1064704"/>
            <a:ext cx="2681025" cy="164213"/>
          </a:xfrm>
          <a:custGeom>
            <a:avLst/>
            <a:gdLst/>
            <a:ahLst/>
            <a:cxnLst/>
            <a:rect l="l" t="t" r="r" b="b"/>
            <a:pathLst>
              <a:path w="2681025" h="164213">
                <a:moveTo>
                  <a:pt x="0" y="0"/>
                </a:moveTo>
                <a:lnTo>
                  <a:pt x="2681026" y="0"/>
                </a:lnTo>
                <a:lnTo>
                  <a:pt x="2681026" y="164212"/>
                </a:lnTo>
                <a:lnTo>
                  <a:pt x="0" y="1642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5" name="Freeform 5"/>
          <p:cNvSpPr/>
          <p:nvPr/>
        </p:nvSpPr>
        <p:spPr>
          <a:xfrm>
            <a:off x="123691" y="2027112"/>
            <a:ext cx="9050508" cy="5011197"/>
          </a:xfrm>
          <a:custGeom>
            <a:avLst/>
            <a:gdLst/>
            <a:ahLst/>
            <a:cxnLst/>
            <a:rect l="l" t="t" r="r" b="b"/>
            <a:pathLst>
              <a:path w="9050508" h="5011197">
                <a:moveTo>
                  <a:pt x="0" y="0"/>
                </a:moveTo>
                <a:lnTo>
                  <a:pt x="9050508" y="0"/>
                </a:lnTo>
                <a:lnTo>
                  <a:pt x="9050508" y="5011197"/>
                </a:lnTo>
                <a:lnTo>
                  <a:pt x="0" y="5011197"/>
                </a:lnTo>
                <a:lnTo>
                  <a:pt x="0" y="0"/>
                </a:lnTo>
                <a:close/>
              </a:path>
            </a:pathLst>
          </a:custGeom>
          <a:blipFill>
            <a:blip r:embed="rId5"/>
            <a:stretch>
              <a:fillRect r="-3252"/>
            </a:stretch>
          </a:blipFill>
        </p:spPr>
        <p:txBody>
          <a:bodyPr/>
          <a:lstStyle/>
          <a:p>
            <a:endParaRPr lang="en-ZA"/>
          </a:p>
        </p:txBody>
      </p:sp>
      <p:sp>
        <p:nvSpPr>
          <p:cNvPr id="6" name="Freeform 6"/>
          <p:cNvSpPr/>
          <p:nvPr/>
        </p:nvSpPr>
        <p:spPr>
          <a:xfrm>
            <a:off x="9297889" y="2027112"/>
            <a:ext cx="8103941" cy="5011197"/>
          </a:xfrm>
          <a:custGeom>
            <a:avLst/>
            <a:gdLst/>
            <a:ahLst/>
            <a:cxnLst/>
            <a:rect l="l" t="t" r="r" b="b"/>
            <a:pathLst>
              <a:path w="8128522" h="5127037">
                <a:moveTo>
                  <a:pt x="0" y="0"/>
                </a:moveTo>
                <a:lnTo>
                  <a:pt x="8128522" y="0"/>
                </a:lnTo>
                <a:lnTo>
                  <a:pt x="8128522" y="5127037"/>
                </a:lnTo>
                <a:lnTo>
                  <a:pt x="0" y="5127037"/>
                </a:lnTo>
                <a:lnTo>
                  <a:pt x="0" y="0"/>
                </a:lnTo>
                <a:close/>
              </a:path>
            </a:pathLst>
          </a:custGeom>
          <a:blipFill>
            <a:blip r:embed="rId6"/>
            <a:stretch>
              <a:fillRect t="-2652" b="-5750"/>
            </a:stretch>
          </a:blipFill>
        </p:spPr>
        <p:txBody>
          <a:bodyPr/>
          <a:lstStyle/>
          <a:p>
            <a:endParaRPr lang="en-ZA"/>
          </a:p>
        </p:txBody>
      </p:sp>
      <p:sp>
        <p:nvSpPr>
          <p:cNvPr id="7" name="TextBox 7"/>
          <p:cNvSpPr txBox="1"/>
          <p:nvPr/>
        </p:nvSpPr>
        <p:spPr>
          <a:xfrm>
            <a:off x="16078200" y="9715500"/>
            <a:ext cx="2169864"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8" name="TextBox 8"/>
          <p:cNvSpPr txBox="1"/>
          <p:nvPr/>
        </p:nvSpPr>
        <p:spPr>
          <a:xfrm>
            <a:off x="6739434" y="266509"/>
            <a:ext cx="5541881" cy="756617"/>
          </a:xfrm>
          <a:prstGeom prst="rect">
            <a:avLst/>
          </a:prstGeom>
        </p:spPr>
        <p:txBody>
          <a:bodyPr lIns="0" tIns="0" rIns="0" bIns="0" rtlCol="0" anchor="t">
            <a:spAutoFit/>
          </a:bodyPr>
          <a:lstStyle/>
          <a:p>
            <a:pPr algn="l">
              <a:lnSpc>
                <a:spcPts val="5880"/>
              </a:lnSpc>
              <a:spcBef>
                <a:spcPct val="0"/>
              </a:spcBef>
            </a:pPr>
            <a:r>
              <a:rPr lang="en-US" sz="5000" dirty="0">
                <a:solidFill>
                  <a:srgbClr val="9F5524"/>
                </a:solidFill>
                <a:latin typeface="Times New Roman MT"/>
                <a:ea typeface="Times New Roman MT"/>
                <a:cs typeface="Times New Roman MT"/>
                <a:sym typeface="Times New Roman MT"/>
              </a:rPr>
              <a:t>Insights &amp;Findings</a:t>
            </a:r>
          </a:p>
        </p:txBody>
      </p:sp>
      <p:sp>
        <p:nvSpPr>
          <p:cNvPr id="9" name="TextBox 9"/>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0" name="TextBox 10"/>
          <p:cNvSpPr txBox="1"/>
          <p:nvPr/>
        </p:nvSpPr>
        <p:spPr>
          <a:xfrm>
            <a:off x="7570232" y="1362895"/>
            <a:ext cx="3147536" cy="581022"/>
          </a:xfrm>
          <a:prstGeom prst="rect">
            <a:avLst/>
          </a:prstGeom>
        </p:spPr>
        <p:txBody>
          <a:bodyPr lIns="0" tIns="0" rIns="0" bIns="0" rtlCol="0" anchor="t">
            <a:spAutoFit/>
          </a:bodyPr>
          <a:lstStyle/>
          <a:p>
            <a:pPr algn="ctr">
              <a:lnSpc>
                <a:spcPts val="4200"/>
              </a:lnSpc>
              <a:spcBef>
                <a:spcPct val="0"/>
              </a:spcBef>
            </a:pPr>
            <a:r>
              <a:rPr lang="en-US" sz="3000" dirty="0">
                <a:solidFill>
                  <a:srgbClr val="683B1E"/>
                </a:solidFill>
                <a:latin typeface="Times New Roman MT"/>
                <a:ea typeface="Times New Roman MT"/>
                <a:cs typeface="Times New Roman MT"/>
                <a:sym typeface="Times New Roman MT"/>
              </a:rPr>
              <a:t>Pricing &amp; Spending</a:t>
            </a:r>
          </a:p>
        </p:txBody>
      </p:sp>
      <p:sp>
        <p:nvSpPr>
          <p:cNvPr id="11" name="TextBox 11"/>
          <p:cNvSpPr txBox="1"/>
          <p:nvPr/>
        </p:nvSpPr>
        <p:spPr>
          <a:xfrm>
            <a:off x="39936" y="7095694"/>
            <a:ext cx="17670347" cy="2855397"/>
          </a:xfrm>
          <a:prstGeom prst="rect">
            <a:avLst/>
          </a:prstGeom>
        </p:spPr>
        <p:txBody>
          <a:bodyPr lIns="0" tIns="0" rIns="0" bIns="0" rtlCol="0" anchor="t">
            <a:spAutoFit/>
          </a:bodyPr>
          <a:lstStyle/>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Low Spend dominates in terms of total sales, with a value of 693,391.18. Interestingly, this category has a very low Average Order Value (around 14,910), indicating a high volume of small-value transactions.</a:t>
            </a:r>
          </a:p>
          <a:p>
            <a:pPr marL="431801" lvl="1" indent="-215900" algn="l">
              <a:lnSpc>
                <a:spcPts val="2800"/>
              </a:lnSpc>
              <a:buFont typeface="Arial"/>
              <a:buChar char="•"/>
            </a:pPr>
            <a:r>
              <a:rPr lang="en-US" sz="2000" dirty="0">
                <a:solidFill>
                  <a:srgbClr val="000000"/>
                </a:solidFill>
                <a:latin typeface="Times New Roman MT"/>
                <a:ea typeface="Times New Roman MT"/>
                <a:cs typeface="Times New Roman MT"/>
                <a:sym typeface="Times New Roman MT"/>
              </a:rPr>
              <a:t>High Spend category represents the inverse; it has a very high Average Order Value (3,600) but a relatively small portion of total sales (10), indicating that customers are not buying premium beans which is expensive than the one sold at lowest/lower price. This indicates that there is a same product at different pricing and or two different product with same name.</a:t>
            </a:r>
          </a:p>
          <a:p>
            <a:pPr marL="431801" lvl="1" indent="-215900">
              <a:lnSpc>
                <a:spcPts val="2800"/>
              </a:lnSpc>
              <a:buFont typeface="Arial"/>
              <a:buChar char="•"/>
            </a:pPr>
            <a:r>
              <a:rPr lang="en-US" sz="2000" dirty="0">
                <a:solidFill>
                  <a:srgbClr val="000000"/>
                </a:solidFill>
                <a:latin typeface="Times New Roman MT"/>
                <a:ea typeface="Times New Roman MT"/>
                <a:cs typeface="Times New Roman MT"/>
                <a:sym typeface="Times New Roman MT"/>
              </a:rPr>
              <a:t>Med Spend shows minimal contribution to the revenue , with very low values for both metrics compared to the other groups. Houseware product type in medium spend might be like the one at low price also indicating that customer prefer purchasing the one at lower price and or two different product with same name.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37534-EA24-6D1C-EAE7-07A33B03086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B1F5751-5FCB-D240-BE3A-CE93B25EEB1F}"/>
              </a:ext>
            </a:extLst>
          </p:cNvPr>
          <p:cNvSpPr/>
          <p:nvPr/>
        </p:nvSpPr>
        <p:spPr>
          <a:xfrm>
            <a:off x="2458" y="0"/>
            <a:ext cx="18318806" cy="104013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dirty="0"/>
          </a:p>
        </p:txBody>
      </p:sp>
      <p:sp>
        <p:nvSpPr>
          <p:cNvPr id="3" name="Freeform 3">
            <a:extLst>
              <a:ext uri="{FF2B5EF4-FFF2-40B4-BE49-F238E27FC236}">
                <a16:creationId xmlns:a16="http://schemas.microsoft.com/office/drawing/2014/main" id="{432E879E-19A8-7AD0-1214-B4A1274D8C73}"/>
              </a:ext>
            </a:extLst>
          </p:cNvPr>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TextBox 4">
            <a:extLst>
              <a:ext uri="{FF2B5EF4-FFF2-40B4-BE49-F238E27FC236}">
                <a16:creationId xmlns:a16="http://schemas.microsoft.com/office/drawing/2014/main" id="{69EF843D-4816-A7A2-65C0-545CD9A33FFC}"/>
              </a:ext>
            </a:extLst>
          </p:cNvPr>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5" name="TextBox 5">
            <a:extLst>
              <a:ext uri="{FF2B5EF4-FFF2-40B4-BE49-F238E27FC236}">
                <a16:creationId xmlns:a16="http://schemas.microsoft.com/office/drawing/2014/main" id="{529A5B42-A047-A56A-BCE7-4EE27A435501}"/>
              </a:ext>
            </a:extLst>
          </p:cNvPr>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6" name="TextBox 6">
            <a:extLst>
              <a:ext uri="{FF2B5EF4-FFF2-40B4-BE49-F238E27FC236}">
                <a16:creationId xmlns:a16="http://schemas.microsoft.com/office/drawing/2014/main" id="{EDCB1397-ED93-13AD-E75A-305F8AE3FAAF}"/>
              </a:ext>
            </a:extLst>
          </p:cNvPr>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id="7" name="TextBox 7">
            <a:extLst>
              <a:ext uri="{FF2B5EF4-FFF2-40B4-BE49-F238E27FC236}">
                <a16:creationId xmlns:a16="http://schemas.microsoft.com/office/drawing/2014/main" id="{D47903D6-023B-86FB-F6D0-8E4AD503B2BD}"/>
              </a:ext>
            </a:extLst>
          </p:cNvPr>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8" name="TextBox 8">
            <a:extLst>
              <a:ext uri="{FF2B5EF4-FFF2-40B4-BE49-F238E27FC236}">
                <a16:creationId xmlns:a16="http://schemas.microsoft.com/office/drawing/2014/main" id="{8DDAFABD-DC19-1C1A-5962-C52B400D42D7}"/>
              </a:ext>
            </a:extLst>
          </p:cNvPr>
          <p:cNvSpPr txBox="1"/>
          <p:nvPr/>
        </p:nvSpPr>
        <p:spPr>
          <a:xfrm>
            <a:off x="6133253" y="322586"/>
            <a:ext cx="5990687" cy="854721"/>
          </a:xfrm>
          <a:prstGeom prst="rect">
            <a:avLst/>
          </a:prstGeom>
        </p:spPr>
        <p:txBody>
          <a:bodyPr lIns="0" tIns="0" rIns="0" bIns="0" rtlCol="0" anchor="t">
            <a:spAutoFit/>
          </a:bodyPr>
          <a:lstStyle/>
          <a:p>
            <a:pPr algn="l">
              <a:lnSpc>
                <a:spcPts val="7000"/>
              </a:lnSpc>
              <a:spcBef>
                <a:spcPct val="0"/>
              </a:spcBef>
            </a:pPr>
            <a:r>
              <a:rPr lang="en-US" sz="5000" dirty="0">
                <a:solidFill>
                  <a:srgbClr val="9F5524"/>
                </a:solidFill>
                <a:latin typeface="Times New Roman MT"/>
                <a:ea typeface="Times New Roman MT"/>
                <a:cs typeface="Times New Roman MT"/>
                <a:sym typeface="Times New Roman MT"/>
              </a:rPr>
              <a:t>Implementation Plan</a:t>
            </a:r>
          </a:p>
        </p:txBody>
      </p:sp>
      <p:sp>
        <p:nvSpPr>
          <p:cNvPr id="9" name="Freeform 9">
            <a:extLst>
              <a:ext uri="{FF2B5EF4-FFF2-40B4-BE49-F238E27FC236}">
                <a16:creationId xmlns:a16="http://schemas.microsoft.com/office/drawing/2014/main" id="{28C04198-F097-0EDF-BB22-2BB77002E116}"/>
              </a:ext>
            </a:extLst>
          </p:cNvPr>
          <p:cNvSpPr/>
          <p:nvPr/>
        </p:nvSpPr>
        <p:spPr>
          <a:xfrm>
            <a:off x="7403700" y="1086965"/>
            <a:ext cx="3048000" cy="223183"/>
          </a:xfrm>
          <a:custGeom>
            <a:avLst/>
            <a:gdLst/>
            <a:ahLst/>
            <a:cxnLst/>
            <a:rect l="l" t="t" r="r" b="b"/>
            <a:pathLst>
              <a:path w="3487283" h="213596">
                <a:moveTo>
                  <a:pt x="0" y="0"/>
                </a:moveTo>
                <a:lnTo>
                  <a:pt x="3487284" y="0"/>
                </a:lnTo>
                <a:lnTo>
                  <a:pt x="3487284" y="213596"/>
                </a:lnTo>
                <a:lnTo>
                  <a:pt x="0" y="21359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10" name="TextBox 10">
            <a:extLst>
              <a:ext uri="{FF2B5EF4-FFF2-40B4-BE49-F238E27FC236}">
                <a16:creationId xmlns:a16="http://schemas.microsoft.com/office/drawing/2014/main" id="{0A8959CD-33E2-A106-850C-73E188DCF485}"/>
              </a:ext>
            </a:extLst>
          </p:cNvPr>
          <p:cNvSpPr txBox="1"/>
          <p:nvPr/>
        </p:nvSpPr>
        <p:spPr>
          <a:xfrm>
            <a:off x="15087600" y="9335768"/>
            <a:ext cx="2849152"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11" name="TextBox 11">
            <a:extLst>
              <a:ext uri="{FF2B5EF4-FFF2-40B4-BE49-F238E27FC236}">
                <a16:creationId xmlns:a16="http://schemas.microsoft.com/office/drawing/2014/main" id="{5275D42E-AAFD-73D7-B8D0-4D8E506E20BE}"/>
              </a:ext>
            </a:extLst>
          </p:cNvPr>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2" name="TextBox 12">
            <a:extLst>
              <a:ext uri="{FF2B5EF4-FFF2-40B4-BE49-F238E27FC236}">
                <a16:creationId xmlns:a16="http://schemas.microsoft.com/office/drawing/2014/main" id="{0B18832F-4EB3-65A3-2211-9BD3421C8705}"/>
              </a:ext>
            </a:extLst>
          </p:cNvPr>
          <p:cNvSpPr txBox="1"/>
          <p:nvPr/>
        </p:nvSpPr>
        <p:spPr>
          <a:xfrm>
            <a:off x="748317" y="1690068"/>
            <a:ext cx="8179383" cy="7164269"/>
          </a:xfrm>
          <a:prstGeom prst="rect">
            <a:avLst/>
          </a:prstGeom>
        </p:spPr>
        <p:txBody>
          <a:bodyPr wrap="square" lIns="0" tIns="0" rIns="0" bIns="0" rtlCol="0" anchor="t">
            <a:spAutoFit/>
          </a:bodyPr>
          <a:lstStyle/>
          <a:p>
            <a:pPr algn="l">
              <a:lnSpc>
                <a:spcPts val="2800"/>
              </a:lnSpc>
            </a:pPr>
            <a:r>
              <a:rPr lang="en-US" sz="2000" b="1" dirty="0">
                <a:solidFill>
                  <a:srgbClr val="000000"/>
                </a:solidFill>
                <a:latin typeface="Times New Roman MT Bold"/>
                <a:ea typeface="Times New Roman MT Bold"/>
                <a:cs typeface="Times New Roman MT Bold"/>
                <a:sym typeface="Times New Roman MT Bold"/>
              </a:rPr>
              <a:t>1. </a:t>
            </a: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Stabilize Revenue Fluctuations</a:t>
            </a:r>
          </a:p>
          <a:p>
            <a:pPr marL="342900" indent="-342900" algn="l">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Introduce subscriptions or prepaid models for steady income</a:t>
            </a:r>
          </a:p>
          <a:p>
            <a:pPr marL="342900" indent="-342900" algn="l">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Use targeted promotions on low-demand days</a:t>
            </a:r>
          </a:p>
          <a:p>
            <a:pPr algn="l">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 </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Monthly coffee subscriptions or weekday discounts (e.g., Tuesday deals).</a:t>
            </a:r>
          </a:p>
          <a:p>
            <a:pPr algn="l">
              <a:lnSpc>
                <a:spcPts val="2800"/>
              </a:lnSpc>
            </a:pP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gn="l">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2. Address Month-End &amp; Early-Month Drops</a:t>
            </a:r>
          </a:p>
          <a:p>
            <a:pPr marL="342900" indent="-342900" algn="l">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Launch value-driven early-month promotions</a:t>
            </a:r>
          </a:p>
          <a:p>
            <a:pPr marL="342900" indent="-342900" algn="l">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Use month-end urgency offers</a:t>
            </a:r>
          </a:p>
          <a:p>
            <a:pPr marL="342900" indent="-342900" algn="l">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Introduce pre-sales or vouchers</a:t>
            </a:r>
          </a:p>
          <a:p>
            <a:pPr algn="l">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 </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Discounted breakfast combos early and “last 3 days” sales at month-end.</a:t>
            </a:r>
          </a:p>
          <a:p>
            <a:pPr algn="l">
              <a:lnSpc>
                <a:spcPts val="2800"/>
              </a:lnSpc>
            </a:pP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gn="l">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3. Maximize Peak Season Performance (Winter/June)</a:t>
            </a: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Expand seasonal, high-margin products (</a:t>
            </a:r>
            <a:r>
              <a:rPr lang="en-US" sz="2000" dirty="0">
                <a:solidFill>
                  <a:srgbClr val="000000"/>
                </a:solidFill>
                <a:latin typeface="Times New Roman MT"/>
                <a:ea typeface="Times New Roman MT"/>
                <a:cs typeface="Times New Roman MT"/>
                <a:sym typeface="Times New Roman MT"/>
              </a:rPr>
              <a:t>hot chocolate &amp; Barista espresso)</a:t>
            </a: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marL="342900" indent="-342900" algn="l">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Use bundling to increase AOV</a:t>
            </a:r>
          </a:p>
          <a:p>
            <a:pPr marL="342900" indent="-342900" algn="l">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Reinvest in top-performing products and channels</a:t>
            </a:r>
          </a:p>
          <a:p>
            <a:pPr algn="l">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 </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Limited-time winter drinks bundled with pastries.</a:t>
            </a:r>
          </a:p>
          <a:p>
            <a:pPr algn="l">
              <a:lnSpc>
                <a:spcPts val="2800"/>
              </a:lnSpc>
            </a:pPr>
            <a:endParaRPr lang="en-US" sz="2000" b="1" dirty="0">
              <a:solidFill>
                <a:srgbClr val="000000"/>
              </a:solidFill>
              <a:latin typeface="Times New Roman MT Bold"/>
              <a:ea typeface="Times New Roman MT Bold"/>
              <a:cs typeface="Times New Roman MT Bold"/>
              <a:sym typeface="Times New Roman MT Bold"/>
            </a:endParaRPr>
          </a:p>
          <a:p>
            <a:pPr algn="l">
              <a:lnSpc>
                <a:spcPts val="2800"/>
              </a:lnSpc>
            </a:pPr>
            <a:endParaRPr lang="en-US" sz="2000" b="1" dirty="0">
              <a:solidFill>
                <a:srgbClr val="000000"/>
              </a:solidFill>
              <a:latin typeface="Times New Roman MT Bold"/>
              <a:ea typeface="Times New Roman MT Bold"/>
              <a:cs typeface="Times New Roman MT Bold"/>
              <a:sym typeface="Times New Roman MT Bold"/>
            </a:endParaRPr>
          </a:p>
        </p:txBody>
      </p:sp>
      <p:sp>
        <p:nvSpPr>
          <p:cNvPr id="13" name="TextBox 13">
            <a:extLst>
              <a:ext uri="{FF2B5EF4-FFF2-40B4-BE49-F238E27FC236}">
                <a16:creationId xmlns:a16="http://schemas.microsoft.com/office/drawing/2014/main" id="{B41D083E-04F5-33F2-1338-0D57543B68BE}"/>
              </a:ext>
            </a:extLst>
          </p:cNvPr>
          <p:cNvSpPr txBox="1"/>
          <p:nvPr/>
        </p:nvSpPr>
        <p:spPr>
          <a:xfrm>
            <a:off x="9128597" y="1816012"/>
            <a:ext cx="8318275" cy="7520520"/>
          </a:xfrm>
          <a:prstGeom prst="rect">
            <a:avLst/>
          </a:prstGeom>
        </p:spPr>
        <p:txBody>
          <a:bodyPr lIns="0" tIns="0" rIns="0" bIns="0" rtlCol="0" anchor="t">
            <a:spAutoFit/>
          </a:bodyPr>
          <a:lstStyle/>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4. Improve Slow Period Performance (Summer/Q1)</a:t>
            </a: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Introduce cold beverages and summer items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Target new segments (students, remote workers)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Host events to drive traffic</a:t>
            </a: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 </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Iced drinks and a work-friendly café setup with Wi-Fi.</a:t>
            </a:r>
          </a:p>
          <a:p>
            <a:pPr>
              <a:lnSpc>
                <a:spcPts val="2800"/>
              </a:lnSpc>
            </a:pPr>
            <a:endPar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5. Optimize Time-of-Day Sales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Maintain morning efficiency (staffing, speed)</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Introduce afternoon promotions (Happy Hour)</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Develop evening-specific offerings</a:t>
            </a: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 1–2 PM discounts or evening coffee-and-pastry deals.</a:t>
            </a:r>
          </a:p>
          <a:p>
            <a:pPr>
              <a:lnSpc>
                <a:spcPts val="2800"/>
              </a:lnSpc>
            </a:pP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6. Increase Average Order Value (AOV)</a:t>
            </a: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Create bundles and combo deals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Train staff on upselling and cross-selling</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Offer spend-based incentives</a:t>
            </a: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 Add a pastry for a small extra cost or rewards for spending above a threshold.</a:t>
            </a:r>
          </a:p>
          <a:p>
            <a:pPr>
              <a:lnSpc>
                <a:spcPts val="2800"/>
              </a:lnSpc>
            </a:pP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 </a:t>
            </a:r>
            <a:endParaRPr lang="en-US" sz="2000" dirty="0">
              <a:solidFill>
                <a:srgbClr val="000000"/>
              </a:solidFill>
              <a:latin typeface="Times New Roman MT"/>
              <a:ea typeface="Times New Roman MT"/>
              <a:cs typeface="Times New Roman MT"/>
              <a:sym typeface="Times New Roman MT"/>
            </a:endParaRPr>
          </a:p>
        </p:txBody>
      </p:sp>
    </p:spTree>
    <p:extLst>
      <p:ext uri="{BB962C8B-B14F-4D97-AF65-F5344CB8AC3E}">
        <p14:creationId xmlns:p14="http://schemas.microsoft.com/office/powerpoint/2010/main" val="1167301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7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dirty="0"/>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TextBox 4"/>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5" name="TextBox 5"/>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6" name="TextBox 6"/>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8" name="TextBox 8"/>
          <p:cNvSpPr txBox="1"/>
          <p:nvPr/>
        </p:nvSpPr>
        <p:spPr>
          <a:xfrm>
            <a:off x="1295400" y="2117756"/>
            <a:ext cx="8686800" cy="6805196"/>
          </a:xfrm>
          <a:prstGeom prst="rect">
            <a:avLst/>
          </a:prstGeom>
        </p:spPr>
        <p:txBody>
          <a:bodyPr wrap="square" lIns="0" tIns="0" rIns="0" bIns="0" rtlCol="0" anchor="t">
            <a:spAutoFit/>
          </a:bodyPr>
          <a:lstStyle/>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7. Optimize Product Mix</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Promote top-selling items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Bundle or reposition low-performing products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Remove consistently weak items</a:t>
            </a: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 </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Pair low-selling tea with popular snacks or rebrand it as premium.</a:t>
            </a:r>
          </a:p>
          <a:p>
            <a:pPr>
              <a:lnSpc>
                <a:spcPts val="2800"/>
              </a:lnSpc>
            </a:pPr>
            <a:endPar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8. Improve Operational Efficiency</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Schedule staff based on peak periods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Adjust inventory to high-demand products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Reduce costs during low-traffic times</a:t>
            </a: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 </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Increase staffing on busy days and reduce weekend overhead if needed.</a:t>
            </a:r>
          </a:p>
          <a:p>
            <a:pPr>
              <a:lnSpc>
                <a:spcPts val="2800"/>
              </a:lnSpc>
            </a:pP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9. Strengthen Customer Retention</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Implement loyalty programs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Use personalized marketing (SMS/email)</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Encourage reviews and referrals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 “Buy 3 for 2, get 1 free” or personalized discounts.</a:t>
            </a:r>
          </a:p>
          <a:p>
            <a:pPr>
              <a:lnSpc>
                <a:spcPts val="2800"/>
              </a:lnSpc>
            </a:pP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endParaRPr lang="en-US" sz="2000" dirty="0">
              <a:solidFill>
                <a:srgbClr val="000000"/>
              </a:solidFill>
              <a:latin typeface="Times New Roman MT"/>
              <a:ea typeface="Times New Roman MT"/>
              <a:cs typeface="Times New Roman MT"/>
              <a:sym typeface="Times New Roman MT"/>
            </a:endParaRPr>
          </a:p>
        </p:txBody>
      </p:sp>
      <p:sp>
        <p:nvSpPr>
          <p:cNvPr id="9" name="Freeform 9"/>
          <p:cNvSpPr/>
          <p:nvPr/>
        </p:nvSpPr>
        <p:spPr>
          <a:xfrm>
            <a:off x="8077200" y="1482279"/>
            <a:ext cx="2681025" cy="164213"/>
          </a:xfrm>
          <a:custGeom>
            <a:avLst/>
            <a:gdLst/>
            <a:ahLst/>
            <a:cxnLst/>
            <a:rect l="l" t="t" r="r" b="b"/>
            <a:pathLst>
              <a:path w="2681025" h="164213">
                <a:moveTo>
                  <a:pt x="0" y="0"/>
                </a:moveTo>
                <a:lnTo>
                  <a:pt x="2681026" y="0"/>
                </a:lnTo>
                <a:lnTo>
                  <a:pt x="2681026"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10" name="TextBox 10"/>
          <p:cNvSpPr txBox="1"/>
          <p:nvPr/>
        </p:nvSpPr>
        <p:spPr>
          <a:xfrm>
            <a:off x="14385047" y="9191625"/>
            <a:ext cx="3094506"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11" name="TextBox 11"/>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2" name="TextBox 11">
            <a:extLst>
              <a:ext uri="{FF2B5EF4-FFF2-40B4-BE49-F238E27FC236}">
                <a16:creationId xmlns:a16="http://schemas.microsoft.com/office/drawing/2014/main" id="{CB2ABCA0-AFC4-316B-09A0-8EC11648FC4E}"/>
              </a:ext>
            </a:extLst>
          </p:cNvPr>
          <p:cNvSpPr txBox="1"/>
          <p:nvPr/>
        </p:nvSpPr>
        <p:spPr>
          <a:xfrm>
            <a:off x="10533063" y="2099321"/>
            <a:ext cx="6934200" cy="5396349"/>
          </a:xfrm>
          <a:prstGeom prst="rect">
            <a:avLst/>
          </a:prstGeom>
          <a:noFill/>
        </p:spPr>
        <p:txBody>
          <a:bodyPr wrap="square" rtlCol="0">
            <a:spAutoFit/>
          </a:bodyPr>
          <a:lstStyle/>
          <a:p>
            <a:pPr>
              <a:lnSpc>
                <a:spcPts val="2800"/>
              </a:lnSpc>
            </a:pPr>
            <a:endParaRPr lang="en-US"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10. Leverage Customer Segmentation</a:t>
            </a:r>
            <a:endPar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Increase spend from low-value, high-frequency customers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Offer premium experiences for high-value customers</a:t>
            </a: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 Bundle deals for frequent buyers and VIP perks for top spenders.</a:t>
            </a:r>
          </a:p>
          <a:p>
            <a:pPr>
              <a:lnSpc>
                <a:spcPts val="2800"/>
              </a:lnSpc>
            </a:pPr>
            <a:endPar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11. Address Duplicate or Similar Products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Conduct a product and pricing audit</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Identify and differentiate or rename overlapping products</a:t>
            </a:r>
          </a:p>
          <a:p>
            <a:pPr marL="342900" indent="-342900">
              <a:lnSpc>
                <a:spcPts val="2800"/>
              </a:lnSpc>
              <a:buFont typeface="Arial" panose="020B0604020202020204" pitchFamily="34" charset="0"/>
              <a:buChar char="•"/>
            </a:pP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Analyze customer price sensitivity</a:t>
            </a:r>
          </a:p>
          <a:p>
            <a:pPr>
              <a:lnSpc>
                <a:spcPts val="2800"/>
              </a:lnSpc>
            </a:pPr>
            <a:r>
              <a:rPr lang="en-US" sz="2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Example</a:t>
            </a:r>
            <a:r>
              <a:rPr lang="en-US" sz="2000"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rPr>
              <a:t>: Clearly distinguish between standard and premium products through branding, features , or packaging.</a:t>
            </a:r>
          </a:p>
          <a:p>
            <a:pPr>
              <a:lnSpc>
                <a:spcPts val="2800"/>
              </a:lnSpc>
            </a:pPr>
            <a:endParaRPr lang="en-US"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a:p>
            <a:endParaRPr lang="en-ZA" dirty="0"/>
          </a:p>
        </p:txBody>
      </p:sp>
      <p:sp>
        <p:nvSpPr>
          <p:cNvPr id="13" name="TextBox 8">
            <a:extLst>
              <a:ext uri="{FF2B5EF4-FFF2-40B4-BE49-F238E27FC236}">
                <a16:creationId xmlns:a16="http://schemas.microsoft.com/office/drawing/2014/main" id="{ACFD9C15-FD0F-4D9F-7063-7C08F61DCF04}"/>
              </a:ext>
            </a:extLst>
          </p:cNvPr>
          <p:cNvSpPr txBox="1"/>
          <p:nvPr/>
        </p:nvSpPr>
        <p:spPr>
          <a:xfrm>
            <a:off x="6629400" y="753708"/>
            <a:ext cx="5879978" cy="854721"/>
          </a:xfrm>
          <a:prstGeom prst="rect">
            <a:avLst/>
          </a:prstGeom>
        </p:spPr>
        <p:txBody>
          <a:bodyPr wrap="square" lIns="0" tIns="0" rIns="0" bIns="0" rtlCol="0" anchor="t">
            <a:spAutoFit/>
          </a:bodyPr>
          <a:lstStyle/>
          <a:p>
            <a:pPr algn="l">
              <a:lnSpc>
                <a:spcPts val="7000"/>
              </a:lnSpc>
              <a:spcBef>
                <a:spcPct val="0"/>
              </a:spcBef>
            </a:pPr>
            <a:r>
              <a:rPr lang="en-US" sz="5000" dirty="0">
                <a:solidFill>
                  <a:srgbClr val="9F5524"/>
                </a:solidFill>
                <a:latin typeface="Times New Roman MT"/>
                <a:ea typeface="Times New Roman MT"/>
                <a:cs typeface="Times New Roman MT"/>
                <a:sym typeface="Times New Roman MT"/>
              </a:rPr>
              <a:t>Implementation plan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lang="en-ZA"/>
          </a:p>
        </p:txBody>
      </p:sp>
      <p:sp>
        <p:nvSpPr>
          <p:cNvPr id="3" name="Freeform 3"/>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ZA"/>
          </a:p>
        </p:txBody>
      </p:sp>
      <p:sp>
        <p:nvSpPr>
          <p:cNvPr id="4" name="TextBox 4"/>
          <p:cNvSpPr txBox="1"/>
          <p:nvPr/>
        </p:nvSpPr>
        <p:spPr>
          <a:xfrm>
            <a:off x="15940842" y="517674"/>
            <a:ext cx="9784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id="5" name="TextBox 5"/>
          <p:cNvSpPr txBox="1"/>
          <p:nvPr/>
        </p:nvSpPr>
        <p:spPr>
          <a:xfrm>
            <a:off x="14385046" y="517674"/>
            <a:ext cx="1060497"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id="6" name="TextBox 6"/>
          <p:cNvSpPr txBox="1"/>
          <p:nvPr/>
        </p:nvSpPr>
        <p:spPr>
          <a:xfrm>
            <a:off x="13154289" y="517674"/>
            <a:ext cx="735456"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id="7" name="TextBox 7"/>
          <p:cNvSpPr txBox="1"/>
          <p:nvPr/>
        </p:nvSpPr>
        <p:spPr>
          <a:xfrm>
            <a:off x="11898530" y="517674"/>
            <a:ext cx="809760" cy="197971"/>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id="8" name="TextBox 8"/>
          <p:cNvSpPr txBox="1"/>
          <p:nvPr/>
        </p:nvSpPr>
        <p:spPr>
          <a:xfrm>
            <a:off x="6900308" y="830267"/>
            <a:ext cx="4565436" cy="798195"/>
          </a:xfrm>
          <a:prstGeom prst="rect">
            <a:avLst/>
          </a:prstGeom>
        </p:spPr>
        <p:txBody>
          <a:bodyPr lIns="0" tIns="0" rIns="0" bIns="0" rtlCol="0" anchor="t">
            <a:spAutoFit/>
          </a:bodyPr>
          <a:lstStyle/>
          <a:p>
            <a:pPr algn="l">
              <a:lnSpc>
                <a:spcPts val="5880"/>
              </a:lnSpc>
              <a:spcBef>
                <a:spcPct val="0"/>
              </a:spcBef>
            </a:pPr>
            <a:r>
              <a:rPr lang="en-US" sz="4200">
                <a:solidFill>
                  <a:srgbClr val="9F5524"/>
                </a:solidFill>
                <a:latin typeface="Times New Roman MT"/>
                <a:ea typeface="Times New Roman MT"/>
                <a:cs typeface="Times New Roman MT"/>
                <a:sym typeface="Times New Roman MT"/>
              </a:rPr>
              <a:t>Implentation Plan</a:t>
            </a:r>
          </a:p>
        </p:txBody>
      </p:sp>
      <p:sp>
        <p:nvSpPr>
          <p:cNvPr id="9" name="Freeform 9"/>
          <p:cNvSpPr/>
          <p:nvPr/>
        </p:nvSpPr>
        <p:spPr>
          <a:xfrm>
            <a:off x="6900308" y="1525448"/>
            <a:ext cx="3363718" cy="206028"/>
          </a:xfrm>
          <a:custGeom>
            <a:avLst/>
            <a:gdLst/>
            <a:ahLst/>
            <a:cxnLst/>
            <a:rect l="l" t="t" r="r" b="b"/>
            <a:pathLst>
              <a:path w="3363718" h="206028">
                <a:moveTo>
                  <a:pt x="0" y="0"/>
                </a:moveTo>
                <a:lnTo>
                  <a:pt x="3363718" y="0"/>
                </a:lnTo>
                <a:lnTo>
                  <a:pt x="3363718" y="206028"/>
                </a:lnTo>
                <a:lnTo>
                  <a:pt x="0" y="2060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ZA"/>
          </a:p>
        </p:txBody>
      </p:sp>
      <p:sp>
        <p:nvSpPr>
          <p:cNvPr id="10" name="TextBox 10"/>
          <p:cNvSpPr txBox="1"/>
          <p:nvPr/>
        </p:nvSpPr>
        <p:spPr>
          <a:xfrm>
            <a:off x="14554201" y="9191625"/>
            <a:ext cx="2925352" cy="538609"/>
          </a:xfrm>
          <a:prstGeom prst="rect">
            <a:avLst/>
          </a:prstGeom>
        </p:spPr>
        <p:txBody>
          <a:bodyPr wrap="square" lIns="0" tIns="0" rIns="0" bIns="0" rtlCol="0" anchor="t">
            <a:spAutoFit/>
          </a:bodyPr>
          <a:lstStyle/>
          <a:p>
            <a:pPr algn="ctr">
              <a:lnSpc>
                <a:spcPts val="4200"/>
              </a:lnSpc>
              <a:spcBef>
                <a:spcPct val="0"/>
              </a:spcBef>
            </a:pPr>
            <a:r>
              <a:rPr lang="en-US" sz="3000" dirty="0">
                <a:solidFill>
                  <a:srgbClr val="000000"/>
                </a:solidFill>
                <a:latin typeface="Brittany"/>
                <a:ea typeface="Brittany"/>
                <a:cs typeface="Brittany"/>
                <a:sym typeface="Brittany"/>
              </a:rPr>
              <a:t>by Sharon M</a:t>
            </a:r>
          </a:p>
        </p:txBody>
      </p:sp>
      <p:sp>
        <p:nvSpPr>
          <p:cNvPr id="11" name="TextBox 11"/>
          <p:cNvSpPr txBox="1"/>
          <p:nvPr/>
        </p:nvSpPr>
        <p:spPr>
          <a:xfrm>
            <a:off x="1039108" y="460524"/>
            <a:ext cx="2566034" cy="344805"/>
          </a:xfrm>
          <a:prstGeom prst="rect">
            <a:avLst/>
          </a:prstGeom>
        </p:spPr>
        <p:txBody>
          <a:bodyPr lIns="0" tIns="0" rIns="0" bIns="0" rtlCol="0" anchor="t">
            <a:spAutoFit/>
          </a:bodyPr>
          <a:lstStyle/>
          <a:p>
            <a:pPr algn="l">
              <a:lnSpc>
                <a:spcPts val="2519"/>
              </a:lnSpc>
              <a:spcBef>
                <a:spcPct val="0"/>
              </a:spcBef>
            </a:pPr>
            <a:r>
              <a:rPr lang="en-US" sz="1799">
                <a:solidFill>
                  <a:srgbClr val="000000"/>
                </a:solidFill>
                <a:latin typeface="Times New Roman MT"/>
                <a:ea typeface="Times New Roman MT"/>
                <a:cs typeface="Times New Roman MT"/>
                <a:sym typeface="Times New Roman MT"/>
              </a:rPr>
              <a:t>www.clearanalytics.com</a:t>
            </a:r>
          </a:p>
        </p:txBody>
      </p:sp>
      <p:sp>
        <p:nvSpPr>
          <p:cNvPr id="12" name="TextBox 12"/>
          <p:cNvSpPr txBox="1"/>
          <p:nvPr/>
        </p:nvSpPr>
        <p:spPr>
          <a:xfrm>
            <a:off x="1109132" y="1936162"/>
            <a:ext cx="9154894" cy="7322138"/>
          </a:xfrm>
          <a:prstGeom prst="rect">
            <a:avLst/>
          </a:prstGeom>
        </p:spPr>
        <p:txBody>
          <a:bodyPr lIns="0" tIns="0" rIns="0" bIns="0" rtlCol="0" anchor="t">
            <a:spAutoFit/>
          </a:bodyPr>
          <a:lstStyle/>
          <a:p>
            <a:pPr algn="l">
              <a:lnSpc>
                <a:spcPts val="2242"/>
              </a:lnSpc>
              <a:spcBef>
                <a:spcPct val="0"/>
              </a:spcBef>
            </a:pPr>
            <a:endParaRPr/>
          </a:p>
          <a:p>
            <a:pPr algn="l">
              <a:lnSpc>
                <a:spcPts val="2802"/>
              </a:lnSpc>
              <a:spcBef>
                <a:spcPct val="0"/>
              </a:spcBef>
            </a:pPr>
            <a:r>
              <a:rPr lang="en-US" sz="2001" b="1">
                <a:solidFill>
                  <a:srgbClr val="000000"/>
                </a:solidFill>
                <a:latin typeface="Times New Roman MT Bold"/>
                <a:ea typeface="Times New Roman MT Bold"/>
                <a:cs typeface="Times New Roman MT Bold"/>
                <a:sym typeface="Times New Roman MT Bold"/>
              </a:rPr>
              <a:t>Short-Term (0–3 Months)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Align staffing and inventory with peak demand periods (mornings &amp; weekdays)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Introduce targeted promotions during low-performing periods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Prioritize top-performing products</a:t>
            </a:r>
          </a:p>
          <a:p>
            <a:pPr algn="l">
              <a:lnSpc>
                <a:spcPts val="2802"/>
              </a:lnSpc>
              <a:spcBef>
                <a:spcPct val="0"/>
              </a:spcBef>
            </a:pPr>
            <a:r>
              <a:rPr lang="en-US" sz="2001">
                <a:solidFill>
                  <a:srgbClr val="000000"/>
                </a:solidFill>
                <a:latin typeface="Times New Roman MT"/>
                <a:ea typeface="Times New Roman MT"/>
                <a:cs typeface="Times New Roman MT"/>
                <a:sym typeface="Times New Roman MT"/>
              </a:rPr>
              <a:t>     </a:t>
            </a:r>
            <a:r>
              <a:rPr lang="en-US" sz="2001" b="1">
                <a:solidFill>
                  <a:srgbClr val="000000"/>
                </a:solidFill>
                <a:latin typeface="Times New Roman MT Bold"/>
                <a:ea typeface="Times New Roman MT Bold"/>
                <a:cs typeface="Times New Roman MT Bold"/>
                <a:sym typeface="Times New Roman MT Bold"/>
              </a:rPr>
              <a:t>KPIs: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+10–15% increase in daily revenue during peak hours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+5–10% increase in evening sales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Reduction in stock-outs for top products</a:t>
            </a:r>
          </a:p>
          <a:p>
            <a:pPr algn="l">
              <a:lnSpc>
                <a:spcPts val="2802"/>
              </a:lnSpc>
              <a:spcBef>
                <a:spcPct val="0"/>
              </a:spcBef>
            </a:pPr>
            <a:r>
              <a:rPr lang="en-US" sz="2001" b="1">
                <a:solidFill>
                  <a:srgbClr val="000000"/>
                </a:solidFill>
                <a:latin typeface="Times New Roman MT Bold"/>
                <a:ea typeface="Times New Roman MT Bold"/>
                <a:cs typeface="Times New Roman MT Bold"/>
                <a:sym typeface="Times New Roman MT Bold"/>
              </a:rPr>
              <a:t>Medium-Term (3–6 Months)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Launch seasonal campaigns (winter focus)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Implement customer segmentation (AOV-based)</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Introduce bundling and pricing strategies</a:t>
            </a:r>
          </a:p>
          <a:p>
            <a:pPr algn="l">
              <a:lnSpc>
                <a:spcPts val="2802"/>
              </a:lnSpc>
              <a:spcBef>
                <a:spcPct val="0"/>
              </a:spcBef>
            </a:pPr>
            <a:r>
              <a:rPr lang="en-US" sz="2001">
                <a:solidFill>
                  <a:srgbClr val="000000"/>
                </a:solidFill>
                <a:latin typeface="Times New Roman MT"/>
                <a:ea typeface="Times New Roman MT"/>
                <a:cs typeface="Times New Roman MT"/>
                <a:sym typeface="Times New Roman MT"/>
              </a:rPr>
              <a:t>     </a:t>
            </a:r>
            <a:r>
              <a:rPr lang="en-US" sz="2001" b="1">
                <a:solidFill>
                  <a:srgbClr val="000000"/>
                </a:solidFill>
                <a:latin typeface="Times New Roman MT Bold"/>
                <a:ea typeface="Times New Roman MT Bold"/>
                <a:cs typeface="Times New Roman MT Bold"/>
                <a:sym typeface="Times New Roman MT Bold"/>
              </a:rPr>
              <a:t>KPIs: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+10% increase in Average Order Value (AOV)</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+15% growth in seasonal product sales</a:t>
            </a:r>
          </a:p>
          <a:p>
            <a:pPr marL="432199" lvl="1" indent="-216099" algn="l">
              <a:lnSpc>
                <a:spcPts val="2802"/>
              </a:lnSpc>
              <a:spcBef>
                <a:spcPct val="0"/>
              </a:spcBef>
              <a:buFont typeface="Arial"/>
              <a:buChar char="•"/>
            </a:pPr>
            <a:r>
              <a:rPr lang="en-US" sz="2001">
                <a:solidFill>
                  <a:srgbClr val="000000"/>
                </a:solidFill>
                <a:latin typeface="Times New Roman MT"/>
                <a:ea typeface="Times New Roman MT"/>
                <a:cs typeface="Times New Roman MT"/>
                <a:sym typeface="Times New Roman MT"/>
              </a:rPr>
              <a:t>+8–12% increase in customer retention / repeat purchases</a:t>
            </a:r>
          </a:p>
          <a:p>
            <a:pPr algn="l">
              <a:lnSpc>
                <a:spcPts val="2242"/>
              </a:lnSpc>
              <a:spcBef>
                <a:spcPct val="0"/>
              </a:spcBef>
            </a:pPr>
            <a:endParaRPr lang="en-US" sz="2001">
              <a:solidFill>
                <a:srgbClr val="000000"/>
              </a:solidFill>
              <a:latin typeface="Times New Roman MT"/>
              <a:ea typeface="Times New Roman MT"/>
              <a:cs typeface="Times New Roman MT"/>
              <a:sym typeface="Times New Roman MT"/>
            </a:endParaRPr>
          </a:p>
          <a:p>
            <a:pPr algn="l">
              <a:lnSpc>
                <a:spcPts val="2242"/>
              </a:lnSpc>
              <a:spcBef>
                <a:spcPct val="0"/>
              </a:spcBef>
            </a:pPr>
            <a:endParaRPr lang="en-US" sz="2001">
              <a:solidFill>
                <a:srgbClr val="000000"/>
              </a:solidFill>
              <a:latin typeface="Times New Roman MT"/>
              <a:ea typeface="Times New Roman MT"/>
              <a:cs typeface="Times New Roman MT"/>
              <a:sym typeface="Times New Roman MT"/>
            </a:endParaRPr>
          </a:p>
          <a:p>
            <a:pPr algn="l">
              <a:lnSpc>
                <a:spcPts val="2242"/>
              </a:lnSpc>
              <a:spcBef>
                <a:spcPct val="0"/>
              </a:spcBef>
            </a:pPr>
            <a:endParaRPr lang="en-US" sz="2001">
              <a:solidFill>
                <a:srgbClr val="000000"/>
              </a:solidFill>
              <a:latin typeface="Times New Roman MT"/>
              <a:ea typeface="Times New Roman MT"/>
              <a:cs typeface="Times New Roman MT"/>
              <a:sym typeface="Times New Roman MT"/>
            </a:endParaRPr>
          </a:p>
          <a:p>
            <a:pPr algn="l">
              <a:lnSpc>
                <a:spcPts val="2242"/>
              </a:lnSpc>
              <a:spcBef>
                <a:spcPct val="0"/>
              </a:spcBef>
            </a:pPr>
            <a:endParaRPr lang="en-US" sz="2001">
              <a:solidFill>
                <a:srgbClr val="000000"/>
              </a:solidFill>
              <a:latin typeface="Times New Roman MT"/>
              <a:ea typeface="Times New Roman MT"/>
              <a:cs typeface="Times New Roman MT"/>
              <a:sym typeface="Times New Roman MT"/>
            </a:endParaRPr>
          </a:p>
          <a:p>
            <a:pPr algn="ctr">
              <a:lnSpc>
                <a:spcPts val="2242"/>
              </a:lnSpc>
              <a:spcBef>
                <a:spcPct val="0"/>
              </a:spcBef>
            </a:pPr>
            <a:endParaRPr lang="en-US" sz="2001">
              <a:solidFill>
                <a:srgbClr val="000000"/>
              </a:solidFill>
              <a:latin typeface="Times New Roman MT"/>
              <a:ea typeface="Times New Roman MT"/>
              <a:cs typeface="Times New Roman MT"/>
              <a:sym typeface="Times New Roman MT"/>
            </a:endParaRPr>
          </a:p>
        </p:txBody>
      </p:sp>
      <p:sp>
        <p:nvSpPr>
          <p:cNvPr id="13" name="TextBox 13"/>
          <p:cNvSpPr txBox="1"/>
          <p:nvPr/>
        </p:nvSpPr>
        <p:spPr>
          <a:xfrm>
            <a:off x="10308392" y="2196026"/>
            <a:ext cx="6950908" cy="3264758"/>
          </a:xfrm>
          <a:prstGeom prst="rect">
            <a:avLst/>
          </a:prstGeom>
        </p:spPr>
        <p:txBody>
          <a:bodyPr lIns="0" tIns="0" rIns="0" bIns="0" rtlCol="0" anchor="t">
            <a:spAutoFit/>
          </a:bodyPr>
          <a:lstStyle/>
          <a:p>
            <a:pPr algn="l">
              <a:lnSpc>
                <a:spcPts val="1702"/>
              </a:lnSpc>
            </a:pPr>
            <a:endParaRPr/>
          </a:p>
          <a:p>
            <a:pPr algn="l">
              <a:lnSpc>
                <a:spcPts val="2800"/>
              </a:lnSpc>
            </a:pPr>
            <a:r>
              <a:rPr lang="en-US" sz="2000" b="1">
                <a:solidFill>
                  <a:srgbClr val="000000"/>
                </a:solidFill>
                <a:latin typeface="Times New Roman MT Bold"/>
                <a:ea typeface="Times New Roman MT Bold"/>
                <a:cs typeface="Times New Roman MT Bold"/>
                <a:sym typeface="Times New Roman MT Bold"/>
              </a:rPr>
              <a:t>Long-Term (6+ Months)</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Develop sales forecasting models</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Implement data-driven marketing strategies</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Expand high-performing products and store strategies</a:t>
            </a:r>
          </a:p>
          <a:p>
            <a:pPr algn="l">
              <a:lnSpc>
                <a:spcPts val="2800"/>
              </a:lnSpc>
            </a:pPr>
            <a:r>
              <a:rPr lang="en-US" sz="2000" b="1">
                <a:solidFill>
                  <a:srgbClr val="000000"/>
                </a:solidFill>
                <a:latin typeface="Times New Roman MT Bold"/>
                <a:ea typeface="Times New Roman MT Bold"/>
                <a:cs typeface="Times New Roman MT Bold"/>
                <a:sym typeface="Times New Roman MT Bold"/>
              </a:rPr>
              <a:t>      KPIs:</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Forecast accuracy ≥ 85%</a:t>
            </a:r>
          </a:p>
          <a:p>
            <a:pPr marL="431801" lvl="1" indent="-215900" algn="l">
              <a:lnSpc>
                <a:spcPts val="2800"/>
              </a:lnSpc>
              <a:buFont typeface="Arial"/>
              <a:buChar char="•"/>
            </a:pPr>
            <a:r>
              <a:rPr lang="en-US" sz="2000">
                <a:solidFill>
                  <a:srgbClr val="000000"/>
                </a:solidFill>
                <a:latin typeface="Times New Roman MT"/>
                <a:ea typeface="Times New Roman MT"/>
                <a:cs typeface="Times New Roman MT"/>
                <a:sym typeface="Times New Roman MT"/>
              </a:rPr>
              <a:t>+15–20% overall revenue growth</a:t>
            </a:r>
          </a:p>
          <a:p>
            <a:pPr marL="431801" lvl="1" indent="-215900" algn="l">
              <a:lnSpc>
                <a:spcPts val="2800"/>
              </a:lnSpc>
              <a:spcBef>
                <a:spcPct val="0"/>
              </a:spcBef>
              <a:buFont typeface="Arial"/>
              <a:buChar char="•"/>
            </a:pPr>
            <a:r>
              <a:rPr lang="en-US" sz="2000">
                <a:solidFill>
                  <a:srgbClr val="000000"/>
                </a:solidFill>
                <a:latin typeface="Times New Roman MT"/>
                <a:ea typeface="Times New Roman MT"/>
                <a:cs typeface="Times New Roman MT"/>
                <a:sym typeface="Times New Roman MT"/>
              </a:rPr>
              <a:t>Improved customer lifetime value (CLV)</a:t>
            </a:r>
          </a:p>
          <a:p>
            <a:pPr algn="ctr">
              <a:lnSpc>
                <a:spcPts val="1702"/>
              </a:lnSpc>
              <a:spcBef>
                <a:spcPct val="0"/>
              </a:spcBef>
            </a:pPr>
            <a:endParaRPr lang="en-US" sz="2000">
              <a:solidFill>
                <a:srgbClr val="000000"/>
              </a:solidFill>
              <a:latin typeface="Times New Roman MT"/>
              <a:ea typeface="Times New Roman MT"/>
              <a:cs typeface="Times New Roman MT"/>
              <a:sym typeface="Times New Roman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5559B-96BA-D403-F8AB-AA8E0A62A9E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ACA914-583F-BC25-0652-FE1435BB15B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CC34D63-8533-9CBD-704A-4A55EB2D7EF1}"/>
              </a:ext>
            </a:extLst>
          </p:cNvPr>
          <p:cNvSpPr/>
          <p:nvPr/>
        </p:nvSpPr>
        <p:spPr>
          <a:xfrm>
            <a:off x="607403" y="399482"/>
            <a:ext cx="291824" cy="332305"/>
          </a:xfrm>
          <a:custGeom>
            <a:avLst/>
            <a:gdLst/>
            <a:ahLst/>
            <a:cxnLst/>
            <a:rect l="l" t="t" r="r" b="b"/>
            <a:pathLst>
              <a:path w="291824" h="332305">
                <a:moveTo>
                  <a:pt x="0" y="0"/>
                </a:moveTo>
                <a:lnTo>
                  <a:pt x="291824" y="0"/>
                </a:lnTo>
                <a:lnTo>
                  <a:pt x="291824" y="332305"/>
                </a:lnTo>
                <a:lnTo>
                  <a:pt x="0" y="3323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91043F1D-9798-03B4-3BCA-18C293CA8E5F}"/>
              </a:ext>
            </a:extLst>
          </p:cNvPr>
          <p:cNvSpPr txBox="1"/>
          <p:nvPr/>
        </p:nvSpPr>
        <p:spPr>
          <a:xfrm>
            <a:off x="15940842" y="517674"/>
            <a:ext cx="978460" cy="197971"/>
          </a:xfrm>
          <a:prstGeom prst="rect">
            <a:avLst/>
          </a:prstGeom>
        </p:spPr>
        <p:txBody>
          <a:bodyPr lIns="0" tIns="0" rIns="0" bIns="0" rtlCol="0" anchor="t">
            <a:spAutoFit/>
          </a:bodyPr>
          <a:lstStyle/>
          <a:p>
            <a:pPr marL="0" marR="0" lvl="0" indent="0" algn="l" defTabSz="914400" rtl="0" eaLnBrk="1" fontAlgn="auto" latinLnBrk="0" hangingPunct="1">
              <a:lnSpc>
                <a:spcPts val="168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pen Sans"/>
                <a:ea typeface="Open Sans"/>
                <a:cs typeface="Open Sans"/>
                <a:sym typeface="Open Sans"/>
              </a:rPr>
              <a:t>Contact</a:t>
            </a:r>
          </a:p>
        </p:txBody>
      </p:sp>
      <p:sp>
        <p:nvSpPr>
          <p:cNvPr id="5" name="TextBox 5">
            <a:extLst>
              <a:ext uri="{FF2B5EF4-FFF2-40B4-BE49-F238E27FC236}">
                <a16:creationId xmlns:a16="http://schemas.microsoft.com/office/drawing/2014/main" id="{A079285E-171A-9C3D-50BF-F10FFBD85AF8}"/>
              </a:ext>
            </a:extLst>
          </p:cNvPr>
          <p:cNvSpPr txBox="1"/>
          <p:nvPr/>
        </p:nvSpPr>
        <p:spPr>
          <a:xfrm>
            <a:off x="14385046" y="517674"/>
            <a:ext cx="1060497" cy="197971"/>
          </a:xfrm>
          <a:prstGeom prst="rect">
            <a:avLst/>
          </a:prstGeom>
        </p:spPr>
        <p:txBody>
          <a:bodyPr lIns="0" tIns="0" rIns="0" bIns="0" rtlCol="0" anchor="t">
            <a:spAutoFit/>
          </a:bodyPr>
          <a:lstStyle/>
          <a:p>
            <a:pPr marL="0" marR="0" lvl="0" indent="0" algn="l" defTabSz="914400" rtl="0" eaLnBrk="1" fontAlgn="auto" latinLnBrk="0" hangingPunct="1">
              <a:lnSpc>
                <a:spcPts val="168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pen Sans"/>
                <a:ea typeface="Open Sans"/>
                <a:cs typeface="Open Sans"/>
                <a:sym typeface="Open Sans"/>
              </a:rPr>
              <a:t>About Us</a:t>
            </a:r>
          </a:p>
        </p:txBody>
      </p:sp>
      <p:sp>
        <p:nvSpPr>
          <p:cNvPr id="6" name="TextBox 6">
            <a:extLst>
              <a:ext uri="{FF2B5EF4-FFF2-40B4-BE49-F238E27FC236}">
                <a16:creationId xmlns:a16="http://schemas.microsoft.com/office/drawing/2014/main" id="{84FBAC71-419D-FE5E-51C4-8F8358EC337B}"/>
              </a:ext>
            </a:extLst>
          </p:cNvPr>
          <p:cNvSpPr txBox="1"/>
          <p:nvPr/>
        </p:nvSpPr>
        <p:spPr>
          <a:xfrm>
            <a:off x="13154289" y="517674"/>
            <a:ext cx="735456" cy="197971"/>
          </a:xfrm>
          <a:prstGeom prst="rect">
            <a:avLst/>
          </a:prstGeom>
        </p:spPr>
        <p:txBody>
          <a:bodyPr lIns="0" tIns="0" rIns="0" bIns="0" rtlCol="0" anchor="t">
            <a:spAutoFit/>
          </a:bodyPr>
          <a:lstStyle/>
          <a:p>
            <a:pPr marL="0" marR="0" lvl="0" indent="0" algn="l" defTabSz="914400" rtl="0" eaLnBrk="1" fontAlgn="auto" latinLnBrk="0" hangingPunct="1">
              <a:lnSpc>
                <a:spcPts val="168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pen Sans"/>
                <a:ea typeface="Open Sans"/>
                <a:cs typeface="Open Sans"/>
                <a:sym typeface="Open Sans"/>
              </a:rPr>
              <a:t>Service</a:t>
            </a:r>
          </a:p>
        </p:txBody>
      </p:sp>
      <p:sp>
        <p:nvSpPr>
          <p:cNvPr id="7" name="TextBox 7">
            <a:extLst>
              <a:ext uri="{FF2B5EF4-FFF2-40B4-BE49-F238E27FC236}">
                <a16:creationId xmlns:a16="http://schemas.microsoft.com/office/drawing/2014/main" id="{C0EE098C-DC3C-53ED-9AFF-81AD1DB6072B}"/>
              </a:ext>
            </a:extLst>
          </p:cNvPr>
          <p:cNvSpPr txBox="1"/>
          <p:nvPr/>
        </p:nvSpPr>
        <p:spPr>
          <a:xfrm>
            <a:off x="11898530" y="517674"/>
            <a:ext cx="809760" cy="197971"/>
          </a:xfrm>
          <a:prstGeom prst="rect">
            <a:avLst/>
          </a:prstGeom>
        </p:spPr>
        <p:txBody>
          <a:bodyPr lIns="0" tIns="0" rIns="0" bIns="0" rtlCol="0" anchor="t">
            <a:spAutoFit/>
          </a:bodyPr>
          <a:lstStyle/>
          <a:p>
            <a:pPr marL="0" marR="0" lvl="0" indent="0" algn="l" defTabSz="914400" rtl="0" eaLnBrk="1" fontAlgn="auto" latinLnBrk="0" hangingPunct="1">
              <a:lnSpc>
                <a:spcPts val="1680"/>
              </a:lnSpc>
              <a:spcBef>
                <a:spcPct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Open Sans"/>
                <a:ea typeface="Open Sans"/>
                <a:cs typeface="Open Sans"/>
                <a:sym typeface="Open Sans"/>
              </a:rPr>
              <a:t>Home</a:t>
            </a:r>
          </a:p>
        </p:txBody>
      </p:sp>
      <p:sp>
        <p:nvSpPr>
          <p:cNvPr id="8" name="TextBox 8">
            <a:extLst>
              <a:ext uri="{FF2B5EF4-FFF2-40B4-BE49-F238E27FC236}">
                <a16:creationId xmlns:a16="http://schemas.microsoft.com/office/drawing/2014/main" id="{BBB35CDB-EEF2-BFED-F47F-DB144E9C65A1}"/>
              </a:ext>
            </a:extLst>
          </p:cNvPr>
          <p:cNvSpPr txBox="1"/>
          <p:nvPr/>
        </p:nvSpPr>
        <p:spPr>
          <a:xfrm>
            <a:off x="6340859" y="1347390"/>
            <a:ext cx="4694744" cy="1062791"/>
          </a:xfrm>
          <a:prstGeom prst="rect">
            <a:avLst/>
          </a:prstGeom>
        </p:spPr>
        <p:txBody>
          <a:bodyPr lIns="0" tIns="0" rIns="0" bIns="0" rtlCol="0" anchor="t">
            <a:spAutoFit/>
          </a:bodyPr>
          <a:lstStyle/>
          <a:p>
            <a:pPr marL="0" marR="0" lvl="0" indent="0" algn="l" defTabSz="914400" rtl="0" eaLnBrk="1" fontAlgn="auto" latinLnBrk="0" hangingPunct="1">
              <a:lnSpc>
                <a:spcPts val="9800"/>
              </a:lnSpc>
              <a:spcBef>
                <a:spcPct val="0"/>
              </a:spcBef>
              <a:spcAft>
                <a:spcPts val="0"/>
              </a:spcAft>
              <a:buClrTx/>
              <a:buSzTx/>
              <a:buFontTx/>
              <a:buNone/>
              <a:tabLst/>
              <a:defRPr/>
            </a:pPr>
            <a:r>
              <a:rPr kumimoji="0" lang="en-US" sz="4200" b="0" i="0" u="none" strike="noStrike" kern="1200" cap="none" spc="0" normalizeH="0" baseline="0" noProof="0" dirty="0">
                <a:ln>
                  <a:noFill/>
                </a:ln>
                <a:solidFill>
                  <a:srgbClr val="9F5524"/>
                </a:solidFill>
                <a:effectLst/>
                <a:uLnTx/>
                <a:uFillTx/>
                <a:latin typeface="Times New Roman" panose="02020603050405020304" pitchFamily="18" charset="0"/>
                <a:ea typeface="Magnolia Script"/>
                <a:cs typeface="Times New Roman" panose="02020603050405020304" pitchFamily="18" charset="0"/>
                <a:sym typeface="Magnolia Script"/>
              </a:rPr>
              <a:t>Thank You</a:t>
            </a:r>
          </a:p>
        </p:txBody>
      </p:sp>
      <p:sp>
        <p:nvSpPr>
          <p:cNvPr id="9" name="Freeform 9">
            <a:extLst>
              <a:ext uri="{FF2B5EF4-FFF2-40B4-BE49-F238E27FC236}">
                <a16:creationId xmlns:a16="http://schemas.microsoft.com/office/drawing/2014/main" id="{34893E90-3684-7C35-87BB-05B5335D1065}"/>
              </a:ext>
            </a:extLst>
          </p:cNvPr>
          <p:cNvSpPr/>
          <p:nvPr/>
        </p:nvSpPr>
        <p:spPr>
          <a:xfrm>
            <a:off x="6340859" y="2336303"/>
            <a:ext cx="2681025" cy="164213"/>
          </a:xfrm>
          <a:custGeom>
            <a:avLst/>
            <a:gdLst/>
            <a:ahLst/>
            <a:cxnLst/>
            <a:rect l="l" t="t" r="r" b="b"/>
            <a:pathLst>
              <a:path w="2681025" h="164213">
                <a:moveTo>
                  <a:pt x="0" y="0"/>
                </a:moveTo>
                <a:lnTo>
                  <a:pt x="2681026" y="0"/>
                </a:lnTo>
                <a:lnTo>
                  <a:pt x="2681026"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8A522A3E-83A7-8D61-7FE1-2B30B5CDDA76}"/>
              </a:ext>
            </a:extLst>
          </p:cNvPr>
          <p:cNvSpPr txBox="1"/>
          <p:nvPr/>
        </p:nvSpPr>
        <p:spPr>
          <a:xfrm>
            <a:off x="14706601" y="9191625"/>
            <a:ext cx="2772952" cy="538609"/>
          </a:xfrm>
          <a:prstGeom prst="rect">
            <a:avLst/>
          </a:prstGeom>
        </p:spPr>
        <p:txBody>
          <a:bodyPr wrap="square"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000000"/>
                </a:solidFill>
                <a:effectLst/>
                <a:uLnTx/>
                <a:uFillTx/>
                <a:latin typeface="Brittany"/>
                <a:ea typeface="Brittany"/>
                <a:cs typeface="Brittany"/>
                <a:sym typeface="Brittany"/>
              </a:rPr>
              <a:t>by Sharon M</a:t>
            </a:r>
          </a:p>
        </p:txBody>
      </p:sp>
      <p:sp>
        <p:nvSpPr>
          <p:cNvPr id="11" name="TextBox 11">
            <a:extLst>
              <a:ext uri="{FF2B5EF4-FFF2-40B4-BE49-F238E27FC236}">
                <a16:creationId xmlns:a16="http://schemas.microsoft.com/office/drawing/2014/main" id="{3B63026A-0CFB-4D98-C4E9-82E884B8F1F6}"/>
              </a:ext>
            </a:extLst>
          </p:cNvPr>
          <p:cNvSpPr txBox="1"/>
          <p:nvPr/>
        </p:nvSpPr>
        <p:spPr>
          <a:xfrm>
            <a:off x="1039108" y="460524"/>
            <a:ext cx="2566034" cy="344805"/>
          </a:xfrm>
          <a:prstGeom prst="rect">
            <a:avLst/>
          </a:prstGeom>
        </p:spPr>
        <p:txBody>
          <a:bodyPr lIns="0" tIns="0" rIns="0" bIns="0" rtlCol="0" anchor="t">
            <a:spAutoFit/>
          </a:bodyPr>
          <a:lstStyle/>
          <a:p>
            <a:pPr marL="0" marR="0" lvl="0" indent="0" algn="l" defTabSz="914400" rtl="0" eaLnBrk="1" fontAlgn="auto" latinLnBrk="0" hangingPunct="1">
              <a:lnSpc>
                <a:spcPts val="2519"/>
              </a:lnSpc>
              <a:spcBef>
                <a:spcPct val="0"/>
              </a:spcBef>
              <a:spcAft>
                <a:spcPts val="0"/>
              </a:spcAft>
              <a:buClrTx/>
              <a:buSzTx/>
              <a:buFontTx/>
              <a:buNone/>
              <a:tabLst/>
              <a:defRPr/>
            </a:pPr>
            <a:r>
              <a:rPr kumimoji="0" lang="en-US" sz="1799" b="0" i="0" u="none" strike="noStrike" kern="1200" cap="none" spc="0" normalizeH="0" baseline="0" noProof="0">
                <a:ln>
                  <a:noFill/>
                </a:ln>
                <a:solidFill>
                  <a:srgbClr val="000000"/>
                </a:solidFill>
                <a:effectLst/>
                <a:uLnTx/>
                <a:uFillTx/>
                <a:latin typeface="Times New Roman MT"/>
                <a:ea typeface="Times New Roman MT"/>
                <a:cs typeface="Times New Roman MT"/>
                <a:sym typeface="Times New Roman MT"/>
              </a:rPr>
              <a:t>www.clearanalytics.com</a:t>
            </a:r>
          </a:p>
        </p:txBody>
      </p:sp>
      <p:sp>
        <p:nvSpPr>
          <p:cNvPr id="13" name="TextBox 12">
            <a:extLst>
              <a:ext uri="{FF2B5EF4-FFF2-40B4-BE49-F238E27FC236}">
                <a16:creationId xmlns:a16="http://schemas.microsoft.com/office/drawing/2014/main" id="{06BADE24-32D8-8715-2068-170F4B01D7BF}"/>
              </a:ext>
            </a:extLst>
          </p:cNvPr>
          <p:cNvSpPr txBox="1"/>
          <p:nvPr/>
        </p:nvSpPr>
        <p:spPr>
          <a:xfrm>
            <a:off x="1847821" y="3486000"/>
            <a:ext cx="13540543" cy="400110"/>
          </a:xfrm>
          <a:prstGeom prst="rect">
            <a:avLst/>
          </a:prstGeom>
          <a:noFill/>
        </p:spPr>
        <p:txBody>
          <a:bodyPr wrap="square" rtlCol="0">
            <a:spAutoFit/>
          </a:bodyPr>
          <a:lstStyle/>
          <a:p>
            <a:r>
              <a:rPr lang="en-US" sz="2000" b="1" i="1" dirty="0">
                <a:latin typeface="Times New Roman" panose="02020603050405020304" pitchFamily="18" charset="0"/>
                <a:cs typeface="Times New Roman" panose="02020603050405020304" pitchFamily="18" charset="0"/>
              </a:rPr>
              <a:t>“Success will be measured through clear performance metrics, ensuring all strategies deliver measurable business impact.”</a:t>
            </a:r>
            <a:endParaRPr lang="en-ZA" sz="2000" b="1" i="1" dirty="0">
              <a:latin typeface="Times New Roman" panose="02020603050405020304" pitchFamily="18" charset="0"/>
              <a:cs typeface="Times New Roman" panose="02020603050405020304" pitchFamily="18" charset="0"/>
            </a:endParaRPr>
          </a:p>
        </p:txBody>
      </p:sp>
      <p:sp>
        <p:nvSpPr>
          <p:cNvPr id="14" name="TextBox 8">
            <a:extLst>
              <a:ext uri="{FF2B5EF4-FFF2-40B4-BE49-F238E27FC236}">
                <a16:creationId xmlns:a16="http://schemas.microsoft.com/office/drawing/2014/main" id="{CDCCA27D-4F17-9674-4EF0-802992EA217C}"/>
              </a:ext>
            </a:extLst>
          </p:cNvPr>
          <p:cNvSpPr txBox="1"/>
          <p:nvPr/>
        </p:nvSpPr>
        <p:spPr>
          <a:xfrm>
            <a:off x="6019800" y="4588945"/>
            <a:ext cx="4480972" cy="1068819"/>
          </a:xfrm>
          <a:prstGeom prst="rect">
            <a:avLst/>
          </a:prstGeom>
        </p:spPr>
        <p:txBody>
          <a:bodyPr wrap="square" lIns="0" tIns="0" rIns="0" bIns="0" rtlCol="0" anchor="t">
            <a:spAutoFit/>
          </a:bodyPr>
          <a:lstStyle/>
          <a:p>
            <a:pPr marL="0" marR="0" lvl="0" indent="0" algn="l" defTabSz="914400" rtl="0" eaLnBrk="1" fontAlgn="auto" latinLnBrk="0" hangingPunct="1">
              <a:lnSpc>
                <a:spcPts val="9800"/>
              </a:lnSpc>
              <a:spcBef>
                <a:spcPct val="0"/>
              </a:spcBef>
              <a:spcAft>
                <a:spcPts val="0"/>
              </a:spcAft>
              <a:buClrTx/>
              <a:buSzTx/>
              <a:buFontTx/>
              <a:buNone/>
              <a:tabLst/>
              <a:defRPr/>
            </a:pPr>
            <a:r>
              <a:rPr lang="en-US" sz="4200" dirty="0">
                <a:solidFill>
                  <a:srgbClr val="9F5524"/>
                </a:solidFill>
                <a:latin typeface="Times New Roman" panose="02020603050405020304" pitchFamily="18" charset="0"/>
                <a:ea typeface="Magnolia Script"/>
                <a:cs typeface="Times New Roman" panose="02020603050405020304" pitchFamily="18" charset="0"/>
                <a:sym typeface="Magnolia Script"/>
              </a:rPr>
              <a:t>Question &amp; Answer</a:t>
            </a:r>
            <a:endParaRPr kumimoji="0" lang="en-US" sz="4200" b="0" i="0" u="none" strike="noStrike" kern="1200" cap="none" spc="0" normalizeH="0" baseline="0" noProof="0" dirty="0">
              <a:ln>
                <a:noFill/>
              </a:ln>
              <a:solidFill>
                <a:srgbClr val="9F5524"/>
              </a:solidFill>
              <a:effectLst/>
              <a:uLnTx/>
              <a:uFillTx/>
              <a:latin typeface="Times New Roman" panose="02020603050405020304" pitchFamily="18" charset="0"/>
              <a:ea typeface="Magnolia Script"/>
              <a:cs typeface="Times New Roman" panose="02020603050405020304" pitchFamily="18" charset="0"/>
              <a:sym typeface="Magnolia Script"/>
            </a:endParaRPr>
          </a:p>
        </p:txBody>
      </p:sp>
      <p:sp>
        <p:nvSpPr>
          <p:cNvPr id="15" name="Freeform 9">
            <a:extLst>
              <a:ext uri="{FF2B5EF4-FFF2-40B4-BE49-F238E27FC236}">
                <a16:creationId xmlns:a16="http://schemas.microsoft.com/office/drawing/2014/main" id="{3ED78E79-C9B7-8614-14C5-4716B8DF4C98}"/>
              </a:ext>
            </a:extLst>
          </p:cNvPr>
          <p:cNvSpPr/>
          <p:nvPr/>
        </p:nvSpPr>
        <p:spPr>
          <a:xfrm>
            <a:off x="6759757" y="5575658"/>
            <a:ext cx="2681025" cy="164213"/>
          </a:xfrm>
          <a:custGeom>
            <a:avLst/>
            <a:gdLst/>
            <a:ahLst/>
            <a:cxnLst/>
            <a:rect l="l" t="t" r="r" b="b"/>
            <a:pathLst>
              <a:path w="2681025" h="164213">
                <a:moveTo>
                  <a:pt x="0" y="0"/>
                </a:moveTo>
                <a:lnTo>
                  <a:pt x="2681026" y="0"/>
                </a:lnTo>
                <a:lnTo>
                  <a:pt x="2681026" y="164213"/>
                </a:lnTo>
                <a:lnTo>
                  <a:pt x="0" y="1642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Rectangle 1">
            <a:extLst>
              <a:ext uri="{FF2B5EF4-FFF2-40B4-BE49-F238E27FC236}">
                <a16:creationId xmlns:a16="http://schemas.microsoft.com/office/drawing/2014/main" id="{3629FCBF-2C5A-1D70-7311-1BE610C5885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spTree>
    <p:extLst>
      <p:ext uri="{BB962C8B-B14F-4D97-AF65-F5344CB8AC3E}">
        <p14:creationId xmlns:p14="http://schemas.microsoft.com/office/powerpoint/2010/main" val="369110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1F6B893FEBF784FA2E1426A3A4099D5" ma:contentTypeVersion="4" ma:contentTypeDescription="Create a new document." ma:contentTypeScope="" ma:versionID="4d59dd1504c9c7865b4aa10625789a02">
  <xsd:schema xmlns:xsd="http://www.w3.org/2001/XMLSchema" xmlns:xs="http://www.w3.org/2001/XMLSchema" xmlns:p="http://schemas.microsoft.com/office/2006/metadata/properties" xmlns:ns3="cdad9a90-c5cf-47a7-a567-8a18b35a3101" targetNamespace="http://schemas.microsoft.com/office/2006/metadata/properties" ma:root="true" ma:fieldsID="832bf26b416ad5c83983b805be8ea1d6" ns3:_="">
    <xsd:import namespace="cdad9a90-c5cf-47a7-a567-8a18b35a310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ad9a90-c5cf-47a7-a567-8a18b35a31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716D83-2CF4-4B61-817C-AE9C7F014B45}">
  <ds:schemaRefs>
    <ds:schemaRef ds:uri="http://schemas.microsoft.com/sharepoint/v3/contenttype/forms"/>
  </ds:schemaRefs>
</ds:datastoreItem>
</file>

<file path=customXml/itemProps2.xml><?xml version="1.0" encoding="utf-8"?>
<ds:datastoreItem xmlns:ds="http://schemas.openxmlformats.org/officeDocument/2006/customXml" ds:itemID="{E3DBB1C7-66EC-4FE3-8DEB-3E0BEDAE27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ad9a90-c5cf-47a7-a567-8a18b35a31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7A687E-C4E9-49BC-8A90-8F7111970A66}">
  <ds:schemaRefs>
    <ds:schemaRef ds:uri="http://schemas.microsoft.com/office/2006/documentManagement/types"/>
    <ds:schemaRef ds:uri="http://schemas.microsoft.com/office/2006/metadata/properties"/>
    <ds:schemaRef ds:uri="http://schemas.microsoft.com/office/infopath/2007/PartnerControls"/>
    <ds:schemaRef ds:uri="http://purl.org/dc/terms/"/>
    <ds:schemaRef ds:uri="http://purl.org/dc/dcmitype/"/>
    <ds:schemaRef ds:uri="http://purl.org/dc/elements/1.1/"/>
    <ds:schemaRef ds:uri="http://schemas.openxmlformats.org/package/2006/metadata/core-properties"/>
    <ds:schemaRef ds:uri="cdad9a90-c5cf-47a7-a567-8a18b35a3101"/>
    <ds:schemaRef ds:uri="http://www.w3.org/XML/1998/namespace"/>
  </ds:schemaRefs>
</ds:datastoreItem>
</file>

<file path=docMetadata/LabelInfo.xml><?xml version="1.0" encoding="utf-8"?>
<clbl:labelList xmlns:clbl="http://schemas.microsoft.com/office/2020/mipLabelMetadata">
  <clbl:label id="{ca9a8b8c-3ea3-4799-a43e-5510398e7a3b}" enabled="0" method="" siteId="{ca9a8b8c-3ea3-4799-a43e-5510398e7a3b}" removed="1"/>
</clbl:labelList>
</file>

<file path=docProps/app.xml><?xml version="1.0" encoding="utf-8"?>
<Properties xmlns="http://schemas.openxmlformats.org/officeDocument/2006/extended-properties" xmlns:vt="http://schemas.openxmlformats.org/officeDocument/2006/docPropsVTypes">
  <TotalTime>1022</TotalTime>
  <Words>2117</Words>
  <Application>Microsoft Office PowerPoint</Application>
  <PresentationFormat>Custom</PresentationFormat>
  <Paragraphs>262</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Open Sans</vt:lpstr>
      <vt:lpstr>Times New Roman MT</vt:lpstr>
      <vt:lpstr>Arial</vt:lpstr>
      <vt:lpstr>Magnolia Script</vt:lpstr>
      <vt:lpstr>Times New Roman</vt:lpstr>
      <vt:lpstr>Canva Sans</vt:lpstr>
      <vt:lpstr>Calibri</vt:lpstr>
      <vt:lpstr>Brittany</vt:lpstr>
      <vt:lpstr>Times New Roman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Modern Coffee Presentation</dc:title>
  <dc:creator>Sharon Mathebula</dc:creator>
  <cp:lastModifiedBy>VUYELWA SWEETNESS SHABANGU</cp:lastModifiedBy>
  <cp:revision>3</cp:revision>
  <dcterms:created xsi:type="dcterms:W3CDTF">2006-08-16T00:00:00Z</dcterms:created>
  <dcterms:modified xsi:type="dcterms:W3CDTF">2026-03-31T16:56:11Z</dcterms:modified>
  <dc:identifier>DAHFPM6UqRA</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0x010100F1F6B893FEBF784FA2E1426A3A4099D5</vt:lpwstr>
  </property>
</Properties>
</file>